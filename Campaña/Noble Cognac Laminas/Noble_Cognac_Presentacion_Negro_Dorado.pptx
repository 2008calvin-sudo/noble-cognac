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200" b="0" u="none" strike="noStrike">
                <a:solidFill>
                  <a:srgbClr val="E8C97A"/>
                </a:solidFill>
                <a:uFillTx/>
                <a:latin typeface="Calibri"/>
              </a:rPr>
              <a:t>Proyección financiera (USD miles)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USD miles</c:v>
                </c:pt>
              </c:strCache>
            </c:strRef>
          </c:tx>
          <c:spPr>
            <a:solidFill>
              <a:srgbClr val="C9A84C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E8E0D0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Año 1</c:v>
                </c:pt>
                <c:pt idx="1">
                  <c:v>Año 2</c:v>
                </c:pt>
                <c:pt idx="2">
                  <c:v>Año 3</c:v>
                </c:pt>
                <c:pt idx="3">
                  <c:v>Año 4</c:v>
                </c:pt>
                <c:pt idx="4">
                  <c:v>Año 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19</c:v>
                </c:pt>
                <c:pt idx="1">
                  <c:v>24.7</c:v>
                </c:pt>
                <c:pt idx="2">
                  <c:v>32.3</c:v>
                </c:pt>
                <c:pt idx="3">
                  <c:v>41.8</c:v>
                </c:pt>
                <c:pt idx="4">
                  <c:v>57</c:v>
                </c:pt>
              </c:numCache>
            </c:numRef>
          </c:val>
        </c:ser>
        <c:gapWidth val="60"/>
        <c:overlap val="0"/>
        <c:axId val="23707508"/>
        <c:axId val="16867856"/>
      </c:barChart>
      <c:catAx>
        <c:axId val="2370750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9A8E7A"/>
                </a:solidFill>
                <a:uFillTx/>
                <a:latin typeface="Calibri"/>
              </a:defRPr>
            </a:pPr>
          </a:p>
        </c:txPr>
        <c:crossAx val="16867856"/>
        <c:crosses val="autoZero"/>
        <c:auto val="1"/>
        <c:lblAlgn val="ctr"/>
        <c:lblOffset val="100"/>
        <c:noMultiLvlLbl val="0"/>
      </c:catAx>
      <c:valAx>
        <c:axId val="16867856"/>
        <c:scaling>
          <c:orientation val="minMax"/>
        </c:scaling>
        <c:delete val="0"/>
        <c:axPos val="l"/>
        <c:majorGridlines>
          <c:spPr>
            <a:ln w="6480">
              <a:solidFill>
                <a:srgbClr val="2A2A2A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9A8E7A"/>
                </a:solidFill>
                <a:uFillTx/>
                <a:latin typeface="Calibri"/>
              </a:defRPr>
            </a:pPr>
          </a:p>
        </c:txPr>
        <c:crossAx val="2370750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</a:t>
            </a:r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s-A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ck 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 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F448913-04F6-429F-9E77-1E4224181734}" type="slidenum"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D398FE3-D6B5-493F-A1FA-4DDAFFE23E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4225AC6-BE61-48C1-B532-3B4832A156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AEBDF7-BAF8-4AEE-A673-E904CBD602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2B37298-7259-458B-B9AE-0CC81C1A78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71F5109-283E-41DE-BA2F-A15F0B0FD7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E50461-A23E-43A1-8A8E-32A1467357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2F0928-33AC-4777-91F0-0FE1A902BA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2EDBA54-1F02-43B1-9A8B-5E5E9A42F3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070B30B-C737-4A4A-B54E-AC7B860C9B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AC7511E-186D-42C3-8D68-0622854009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D0633F1-9775-4646-93E2-D40B51DFD9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F79DFDA-790A-4FCB-85A1-92D260777F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C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819B5D58-33FA-48BC-8073-27FAD76F248A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</a:t>
            </a:r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s-A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A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A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s-A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A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s-A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 descr="/home/claude/img/img0.jpg"/>
          <p:cNvPicPr/>
          <p:nvPr/>
        </p:nvPicPr>
        <p:blipFill>
          <a:blip r:embed="rId1"/>
          <a:stretch/>
        </p:blipFill>
        <p:spPr>
          <a:xfrm>
            <a:off x="5303520" y="0"/>
            <a:ext cx="383976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Shape 0"/>
          <p:cNvSpPr/>
          <p:nvPr/>
        </p:nvSpPr>
        <p:spPr>
          <a:xfrm>
            <a:off x="548640" y="640080"/>
            <a:ext cx="822240" cy="822240"/>
          </a:xfrm>
          <a:prstGeom prst="ellipse">
            <a:avLst/>
          </a:prstGeom>
          <a:solidFill>
            <a:srgbClr val="120E05"/>
          </a:solidFill>
          <a:ln w="12700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548640" y="64008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NC</a:t>
            </a: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548640" y="1737360"/>
            <a:ext cx="45712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0" u="none" spc="601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NOBLE COGNAC</a:t>
            </a:r>
            <a:endParaRPr lang="es-A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548640" y="256032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9A8E7A"/>
                </a:solidFill>
                <a:effectLst/>
                <a:uFillTx/>
                <a:latin typeface="Cambria"/>
                <a:ea typeface="Cambria"/>
              </a:rPr>
              <a:t>Elegancia Contemporánea · Raíces de Tradición</a:t>
            </a:r>
            <a:endParaRPr lang="es-A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548640" y="33832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PRESENTACIÓN ESTRATÉGICA Y MARKETING PREMIUM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548640" y="374904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Venezuela · Since 2025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sldNum" idx="5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B06EAFD-240B-42F9-9A0D-9D593A421FA2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0" descr="/home/claude/img/img1.jpg"/>
          <p:cNvPicPr/>
          <p:nvPr/>
        </p:nvPicPr>
        <p:blipFill>
          <a:blip r:embed="rId1"/>
          <a:stretch/>
        </p:blipFill>
        <p:spPr>
          <a:xfrm>
            <a:off x="0" y="0"/>
            <a:ext cx="338256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Text 0"/>
          <p:cNvSpPr/>
          <p:nvPr/>
        </p:nvSpPr>
        <p:spPr>
          <a:xfrm>
            <a:off x="3840480" y="411480"/>
            <a:ext cx="4845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LA MARCA · FILOSOFÍA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3840480" y="777240"/>
            <a:ext cx="484560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i="1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“¿Cuándo fue la última vez que una bebida habló realmente de ti?”</a:t>
            </a:r>
            <a:endParaRPr lang="es-A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3840480" y="2240280"/>
            <a:ext cx="2376720" cy="228528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023360" y="23958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Misión</a:t>
            </a:r>
            <a:endParaRPr lang="es-A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4023360" y="2834640"/>
            <a:ext cx="201096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Elaborar y comercializar un coñac venezolano premium que combine la elegancia del coñac clásico con la autenticidad artesanal nacional.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6309360" y="2240280"/>
            <a:ext cx="2376720" cy="228528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6492240" y="23958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Visión</a:t>
            </a:r>
            <a:endParaRPr lang="es-A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6492240" y="2834640"/>
            <a:ext cx="201096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Ser la marca referente del segmento premium en Venezuela para 2028, con proyección exportadora hacia Latinoamérica y Europa.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sldNum" idx="6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39AAFB58-479B-4D29-A68C-3F34F5CD2D9C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457200" y="36576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PROPUESTA DE VALOR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"/>
          <p:cNvSpPr/>
          <p:nvPr/>
        </p:nvSpPr>
        <p:spPr>
          <a:xfrm>
            <a:off x="457200" y="640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Artesanía en cada botella</a:t>
            </a:r>
            <a:endParaRPr lang="es-A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"/>
          <p:cNvSpPr/>
          <p:nvPr/>
        </p:nvSpPr>
        <p:spPr>
          <a:xfrm>
            <a:off x="457200" y="1417320"/>
            <a:ext cx="2651040" cy="15080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3"/>
          <p:cNvSpPr/>
          <p:nvPr/>
        </p:nvSpPr>
        <p:spPr>
          <a:xfrm>
            <a:off x="621720" y="1572840"/>
            <a:ext cx="328320" cy="328320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4"/>
          <p:cNvSpPr/>
          <p:nvPr/>
        </p:nvSpPr>
        <p:spPr>
          <a:xfrm>
            <a:off x="621720" y="15728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5"/>
          <p:cNvSpPr/>
          <p:nvPr/>
        </p:nvSpPr>
        <p:spPr>
          <a:xfrm>
            <a:off x="1051560" y="1572840"/>
            <a:ext cx="19195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Proceso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621720" y="2057400"/>
            <a:ext cx="2331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Alambiques de cobre, añejamiento en barricas de roble y pequeños lotes numerados.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7"/>
          <p:cNvSpPr/>
          <p:nvPr/>
        </p:nvSpPr>
        <p:spPr>
          <a:xfrm>
            <a:off x="3246120" y="1417320"/>
            <a:ext cx="2651040" cy="15080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8"/>
          <p:cNvSpPr/>
          <p:nvPr/>
        </p:nvSpPr>
        <p:spPr>
          <a:xfrm>
            <a:off x="3410640" y="1572840"/>
            <a:ext cx="328320" cy="328320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9"/>
          <p:cNvSpPr/>
          <p:nvPr/>
        </p:nvSpPr>
        <p:spPr>
          <a:xfrm>
            <a:off x="3410640" y="15728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0"/>
          <p:cNvSpPr/>
          <p:nvPr/>
        </p:nvSpPr>
        <p:spPr>
          <a:xfrm>
            <a:off x="3840480" y="1572840"/>
            <a:ext cx="19195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Perfil sensorial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1"/>
          <p:cNvSpPr/>
          <p:nvPr/>
        </p:nvSpPr>
        <p:spPr>
          <a:xfrm>
            <a:off x="3410640" y="2057400"/>
            <a:ext cx="2331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Vainilla, caramelo y madera fina, con retrogusto largo y sofisticado.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2"/>
          <p:cNvSpPr/>
          <p:nvPr/>
        </p:nvSpPr>
        <p:spPr>
          <a:xfrm>
            <a:off x="6035040" y="1417320"/>
            <a:ext cx="2651040" cy="15080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3"/>
          <p:cNvSpPr/>
          <p:nvPr/>
        </p:nvSpPr>
        <p:spPr>
          <a:xfrm>
            <a:off x="6199560" y="1572840"/>
            <a:ext cx="328320" cy="328320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4"/>
          <p:cNvSpPr/>
          <p:nvPr/>
        </p:nvSpPr>
        <p:spPr>
          <a:xfrm>
            <a:off x="6199560" y="15728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5"/>
          <p:cNvSpPr/>
          <p:nvPr/>
        </p:nvSpPr>
        <p:spPr>
          <a:xfrm>
            <a:off x="6629400" y="1572840"/>
            <a:ext cx="19195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Presentaciones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6"/>
          <p:cNvSpPr/>
          <p:nvPr/>
        </p:nvSpPr>
        <p:spPr>
          <a:xfrm>
            <a:off x="6199560" y="2057400"/>
            <a:ext cx="2331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Clásica 700 ml y Reserva Especial 350 ml en cofre de madera numerado.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7"/>
          <p:cNvSpPr/>
          <p:nvPr/>
        </p:nvSpPr>
        <p:spPr>
          <a:xfrm>
            <a:off x="457200" y="3063240"/>
            <a:ext cx="2651040" cy="15080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8"/>
          <p:cNvSpPr/>
          <p:nvPr/>
        </p:nvSpPr>
        <p:spPr>
          <a:xfrm>
            <a:off x="621720" y="3218760"/>
            <a:ext cx="328320" cy="328320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9"/>
          <p:cNvSpPr/>
          <p:nvPr/>
        </p:nvSpPr>
        <p:spPr>
          <a:xfrm>
            <a:off x="621720" y="321876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0"/>
          <p:cNvSpPr/>
          <p:nvPr/>
        </p:nvSpPr>
        <p:spPr>
          <a:xfrm>
            <a:off x="1051560" y="3218760"/>
            <a:ext cx="19195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Diseño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1"/>
          <p:cNvSpPr/>
          <p:nvPr/>
        </p:nvSpPr>
        <p:spPr>
          <a:xfrm>
            <a:off x="621720" y="3703320"/>
            <a:ext cx="2331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Cristal oscuro soplado y etiqueta de pergamino con relieve dorado.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2"/>
          <p:cNvSpPr/>
          <p:nvPr/>
        </p:nvSpPr>
        <p:spPr>
          <a:xfrm>
            <a:off x="3246120" y="3063240"/>
            <a:ext cx="2651040" cy="15080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3"/>
          <p:cNvSpPr/>
          <p:nvPr/>
        </p:nvSpPr>
        <p:spPr>
          <a:xfrm>
            <a:off x="3410640" y="3218760"/>
            <a:ext cx="328320" cy="328320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4"/>
          <p:cNvSpPr/>
          <p:nvPr/>
        </p:nvSpPr>
        <p:spPr>
          <a:xfrm>
            <a:off x="3410640" y="321876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5"/>
          <p:cNvSpPr/>
          <p:nvPr/>
        </p:nvSpPr>
        <p:spPr>
          <a:xfrm>
            <a:off x="3840480" y="3218760"/>
            <a:ext cx="19195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Origen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6"/>
          <p:cNvSpPr/>
          <p:nvPr/>
        </p:nvSpPr>
        <p:spPr>
          <a:xfrm>
            <a:off x="3410640" y="3703320"/>
            <a:ext cx="2331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Uvas de Lara y región andina, con técnicas de estándar internacional.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7"/>
          <p:cNvSpPr/>
          <p:nvPr/>
        </p:nvSpPr>
        <p:spPr>
          <a:xfrm>
            <a:off x="6035040" y="3063240"/>
            <a:ext cx="2651040" cy="15080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8"/>
          <p:cNvSpPr/>
          <p:nvPr/>
        </p:nvSpPr>
        <p:spPr>
          <a:xfrm>
            <a:off x="6199560" y="3218760"/>
            <a:ext cx="328320" cy="328320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9"/>
          <p:cNvSpPr/>
          <p:nvPr/>
        </p:nvSpPr>
        <p:spPr>
          <a:xfrm>
            <a:off x="6199560" y="321876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6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0"/>
          <p:cNvSpPr/>
          <p:nvPr/>
        </p:nvSpPr>
        <p:spPr>
          <a:xfrm>
            <a:off x="6629400" y="3218760"/>
            <a:ext cx="19195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Posicionamiento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1"/>
          <p:cNvSpPr/>
          <p:nvPr/>
        </p:nvSpPr>
        <p:spPr>
          <a:xfrm>
            <a:off x="6199560" y="3703320"/>
            <a:ext cx="2331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Maestría de Hennessy VS, hasta 30% más accesible y con talento venezolano.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sldNum" idx="7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6D9D9B0C-7991-4E33-BF84-F9448984328D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457200" y="36576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MATRIZ DE RENTABILIDAD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457200" y="640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Qué, quién, dónde, cómo y por qué</a:t>
            </a:r>
            <a:endParaRPr lang="es-A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4" name="Table 0"/>
          <p:cNvGraphicFramePr/>
          <p:nvPr/>
        </p:nvGraphicFramePr>
        <p:xfrm>
          <a:off x="457200" y="1417320"/>
          <a:ext cx="5120280" cy="2833200"/>
        </p:xfrm>
        <a:graphic>
          <a:graphicData uri="http://schemas.openxmlformats.org/drawingml/2006/table">
            <a:tbl>
              <a:tblPr/>
              <a:tblGrid>
                <a:gridCol w="1097280"/>
                <a:gridCol w="4023360"/>
              </a:tblGrid>
              <a:tr h="566640"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C9A84C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Qué</a:t>
                      </a:r>
                      <a:endParaRPr lang="es-A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8B6914"/>
                      </a:solidFill>
                      <a:prstDash val="solid"/>
                    </a:lnL>
                    <a:lnR w="9360">
                      <a:solidFill>
                        <a:srgbClr val="8B6914"/>
                      </a:solidFill>
                      <a:prstDash val="solid"/>
                    </a:lnR>
                    <a:lnT w="9360">
                      <a:solidFill>
                        <a:srgbClr val="8B6914"/>
                      </a:solidFill>
                      <a:prstDash val="solid"/>
                    </a:lnT>
                    <a:lnB w="9360">
                      <a:solidFill>
                        <a:srgbClr val="8B6914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8E0D0"/>
                          </a:solidFill>
                          <a:effectLst/>
                          <a:uFillTx/>
                          <a:latin typeface="Calibri"/>
                        </a:rPr>
                        <a:t>Coñac premium venezolano</a:t>
                      </a:r>
                      <a:endParaRPr lang="es-A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8B6914"/>
                      </a:solidFill>
                      <a:prstDash val="solid"/>
                    </a:lnL>
                    <a:lnR w="9360">
                      <a:solidFill>
                        <a:srgbClr val="8B6914"/>
                      </a:solidFill>
                      <a:prstDash val="solid"/>
                    </a:lnR>
                    <a:lnT w="9360">
                      <a:solidFill>
                        <a:srgbClr val="8B6914"/>
                      </a:solidFill>
                      <a:prstDash val="solid"/>
                    </a:lnT>
                    <a:lnB w="9360">
                      <a:solidFill>
                        <a:srgbClr val="8B6914"/>
                      </a:solidFill>
                      <a:prstDash val="solid"/>
                    </a:lnB>
                    <a:solidFill>
                      <a:srgbClr val="1A1A1A"/>
                    </a:solidFill>
                  </a:tcPr>
                </a:tc>
              </a:tr>
              <a:tr h="566640"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C9A84C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A quién</a:t>
                      </a:r>
                      <a:endParaRPr lang="es-A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8B6914"/>
                      </a:solidFill>
                      <a:prstDash val="solid"/>
                    </a:lnL>
                    <a:lnR w="9360">
                      <a:solidFill>
                        <a:srgbClr val="8B6914"/>
                      </a:solidFill>
                      <a:prstDash val="solid"/>
                    </a:lnR>
                    <a:lnT w="9360">
                      <a:solidFill>
                        <a:srgbClr val="8B6914"/>
                      </a:solidFill>
                      <a:prstDash val="solid"/>
                    </a:lnT>
                    <a:lnB w="9360">
                      <a:solidFill>
                        <a:srgbClr val="8B6914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8E0D0"/>
                          </a:solidFill>
                          <a:effectLst/>
                          <a:uFillTx/>
                          <a:latin typeface="Calibri"/>
                        </a:rPr>
                        <a:t>Adultos 28-60 años y canal corporativo</a:t>
                      </a:r>
                      <a:endParaRPr lang="es-A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8B6914"/>
                      </a:solidFill>
                      <a:prstDash val="solid"/>
                    </a:lnL>
                    <a:lnR w="9360">
                      <a:solidFill>
                        <a:srgbClr val="8B6914"/>
                      </a:solidFill>
                      <a:prstDash val="solid"/>
                    </a:lnR>
                    <a:lnT w="9360">
                      <a:solidFill>
                        <a:srgbClr val="8B6914"/>
                      </a:solidFill>
                      <a:prstDash val="solid"/>
                    </a:lnT>
                    <a:lnB w="9360">
                      <a:solidFill>
                        <a:srgbClr val="8B6914"/>
                      </a:solidFill>
                      <a:prstDash val="solid"/>
                    </a:lnB>
                    <a:solidFill>
                      <a:srgbClr val="1A1A1A"/>
                    </a:solidFill>
                  </a:tcPr>
                </a:tc>
              </a:tr>
              <a:tr h="566640"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C9A84C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Dónde</a:t>
                      </a:r>
                      <a:endParaRPr lang="es-A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8B6914"/>
                      </a:solidFill>
                      <a:prstDash val="solid"/>
                    </a:lnL>
                    <a:lnR w="9360">
                      <a:solidFill>
                        <a:srgbClr val="8B6914"/>
                      </a:solidFill>
                      <a:prstDash val="solid"/>
                    </a:lnR>
                    <a:lnT w="9360">
                      <a:solidFill>
                        <a:srgbClr val="8B6914"/>
                      </a:solidFill>
                      <a:prstDash val="solid"/>
                    </a:lnT>
                    <a:lnB w="9360">
                      <a:solidFill>
                        <a:srgbClr val="8B6914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8E0D0"/>
                          </a:solidFill>
                          <a:effectLst/>
                          <a:uFillTx/>
                          <a:latin typeface="Calibri"/>
                        </a:rPr>
                        <a:t>Venezuela, Argentina, España y EE.UU.</a:t>
                      </a:r>
                      <a:endParaRPr lang="es-A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8B6914"/>
                      </a:solidFill>
                      <a:prstDash val="solid"/>
                    </a:lnL>
                    <a:lnR w="9360">
                      <a:solidFill>
                        <a:srgbClr val="8B6914"/>
                      </a:solidFill>
                      <a:prstDash val="solid"/>
                    </a:lnR>
                    <a:lnT w="9360">
                      <a:solidFill>
                        <a:srgbClr val="8B6914"/>
                      </a:solidFill>
                      <a:prstDash val="solid"/>
                    </a:lnT>
                    <a:lnB w="9360">
                      <a:solidFill>
                        <a:srgbClr val="8B6914"/>
                      </a:solidFill>
                      <a:prstDash val="solid"/>
                    </a:lnB>
                    <a:solidFill>
                      <a:srgbClr val="1A1A1A"/>
                    </a:solidFill>
                  </a:tcPr>
                </a:tc>
              </a:tr>
              <a:tr h="566640"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C9A84C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Cómo</a:t>
                      </a:r>
                      <a:endParaRPr lang="es-A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8B6914"/>
                      </a:solidFill>
                      <a:prstDash val="solid"/>
                    </a:lnL>
                    <a:lnR w="9360">
                      <a:solidFill>
                        <a:srgbClr val="8B6914"/>
                      </a:solidFill>
                      <a:prstDash val="solid"/>
                    </a:lnR>
                    <a:lnT w="9360">
                      <a:solidFill>
                        <a:srgbClr val="8B6914"/>
                      </a:solidFill>
                      <a:prstDash val="solid"/>
                    </a:lnT>
                    <a:lnB w="9360">
                      <a:solidFill>
                        <a:srgbClr val="8B6914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8E0D0"/>
                          </a:solidFill>
                          <a:effectLst/>
                          <a:uFillTx/>
                          <a:latin typeface="Calibri"/>
                        </a:rPr>
                        <a:t>E-commerce, RRSS y distribuidores</a:t>
                      </a:r>
                      <a:endParaRPr lang="es-A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8B6914"/>
                      </a:solidFill>
                      <a:prstDash val="solid"/>
                    </a:lnL>
                    <a:lnR w="9360">
                      <a:solidFill>
                        <a:srgbClr val="8B6914"/>
                      </a:solidFill>
                      <a:prstDash val="solid"/>
                    </a:lnR>
                    <a:lnT w="9360">
                      <a:solidFill>
                        <a:srgbClr val="8B6914"/>
                      </a:solidFill>
                      <a:prstDash val="solid"/>
                    </a:lnT>
                    <a:lnB w="9360">
                      <a:solidFill>
                        <a:srgbClr val="8B6914"/>
                      </a:solidFill>
                      <a:prstDash val="solid"/>
                    </a:lnB>
                    <a:solidFill>
                      <a:srgbClr val="1A1A1A"/>
                    </a:solidFill>
                  </a:tcPr>
                </a:tc>
              </a:tr>
              <a:tr h="566640"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C9A84C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Por qué</a:t>
                      </a:r>
                      <a:endParaRPr lang="es-A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8B6914"/>
                      </a:solidFill>
                      <a:prstDash val="solid"/>
                    </a:lnL>
                    <a:lnR w="9360">
                      <a:solidFill>
                        <a:srgbClr val="8B6914"/>
                      </a:solidFill>
                      <a:prstDash val="solid"/>
                    </a:lnR>
                    <a:lnT w="9360">
                      <a:solidFill>
                        <a:srgbClr val="8B6914"/>
                      </a:solidFill>
                      <a:prstDash val="solid"/>
                    </a:lnT>
                    <a:lnB w="9360">
                      <a:solidFill>
                        <a:srgbClr val="8B6914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8E0D0"/>
                          </a:solidFill>
                          <a:effectLst/>
                          <a:uFillTx/>
                          <a:latin typeface="Calibri"/>
                        </a:rPr>
                        <a:t>Exclusividad e identidad venezolana</a:t>
                      </a:r>
                      <a:endParaRPr lang="es-A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8B6914"/>
                      </a:solidFill>
                      <a:prstDash val="solid"/>
                    </a:lnL>
                    <a:lnR w="9360">
                      <a:solidFill>
                        <a:srgbClr val="8B6914"/>
                      </a:solidFill>
                      <a:prstDash val="solid"/>
                    </a:lnR>
                    <a:lnT w="9360">
                      <a:solidFill>
                        <a:srgbClr val="8B6914"/>
                      </a:solidFill>
                      <a:prstDash val="solid"/>
                    </a:lnT>
                    <a:lnB w="9360">
                      <a:solidFill>
                        <a:srgbClr val="8B6914"/>
                      </a:solidFill>
                      <a:prstDash val="soli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65" name="Shape 2"/>
          <p:cNvSpPr/>
          <p:nvPr/>
        </p:nvSpPr>
        <p:spPr>
          <a:xfrm>
            <a:off x="5852160" y="1417320"/>
            <a:ext cx="1370880" cy="146232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5852160" y="1691640"/>
            <a:ext cx="1370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$55K</a:t>
            </a:r>
            <a:endParaRPr lang="es-A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5943600" y="233172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Inversión inicial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5"/>
          <p:cNvSpPr/>
          <p:nvPr/>
        </p:nvSpPr>
        <p:spPr>
          <a:xfrm>
            <a:off x="7315200" y="1417320"/>
            <a:ext cx="1370880" cy="146232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7315200" y="1691640"/>
            <a:ext cx="1370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$38</a:t>
            </a:r>
            <a:endParaRPr lang="es-A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7"/>
          <p:cNvSpPr/>
          <p:nvPr/>
        </p:nvSpPr>
        <p:spPr>
          <a:xfrm>
            <a:off x="7406640" y="233172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Precio por botella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8"/>
          <p:cNvSpPr/>
          <p:nvPr/>
        </p:nvSpPr>
        <p:spPr>
          <a:xfrm>
            <a:off x="5852160" y="2971800"/>
            <a:ext cx="1370880" cy="146232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5852160" y="3246120"/>
            <a:ext cx="1370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Año 2</a:t>
            </a:r>
            <a:endParaRPr lang="es-A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0"/>
          <p:cNvSpPr/>
          <p:nvPr/>
        </p:nvSpPr>
        <p:spPr>
          <a:xfrm>
            <a:off x="5943600" y="388620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Punto de equilibrio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1"/>
          <p:cNvSpPr/>
          <p:nvPr/>
        </p:nvSpPr>
        <p:spPr>
          <a:xfrm>
            <a:off x="7315200" y="2971800"/>
            <a:ext cx="1370880" cy="146232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7315200" y="3246120"/>
            <a:ext cx="1370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$40K</a:t>
            </a:r>
            <a:endParaRPr lang="es-A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3"/>
          <p:cNvSpPr/>
          <p:nvPr/>
        </p:nvSpPr>
        <p:spPr>
          <a:xfrm>
            <a:off x="7406640" y="388620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EBITDA año 5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sldNum" idx="8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0797E4D-CAC3-46A2-A315-28B203BEE7E1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457200" y="36576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PILARES DE CONTENIDO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457200" y="640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Cinco ejes de comunicación</a:t>
            </a:r>
            <a:endParaRPr lang="es-A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"/>
          <p:cNvSpPr/>
          <p:nvPr/>
        </p:nvSpPr>
        <p:spPr>
          <a:xfrm>
            <a:off x="457200" y="1463040"/>
            <a:ext cx="1553760" cy="29253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457200" y="1645920"/>
            <a:ext cx="1553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s-A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4"/>
          <p:cNvSpPr/>
          <p:nvPr/>
        </p:nvSpPr>
        <p:spPr>
          <a:xfrm>
            <a:off x="594360" y="2560320"/>
            <a:ext cx="1279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Elegancia y Exclusividad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594360" y="3383280"/>
            <a:ext cx="12794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Ediciones limitadas y numeradas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6"/>
          <p:cNvSpPr/>
          <p:nvPr/>
        </p:nvSpPr>
        <p:spPr>
          <a:xfrm>
            <a:off x="2126160" y="1463040"/>
            <a:ext cx="1553760" cy="29253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7"/>
          <p:cNvSpPr/>
          <p:nvPr/>
        </p:nvSpPr>
        <p:spPr>
          <a:xfrm>
            <a:off x="2126160" y="1645920"/>
            <a:ext cx="1553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s-A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8"/>
          <p:cNvSpPr/>
          <p:nvPr/>
        </p:nvSpPr>
        <p:spPr>
          <a:xfrm>
            <a:off x="2263320" y="2560320"/>
            <a:ext cx="1279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Autenticidad Venezolana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9"/>
          <p:cNvSpPr/>
          <p:nvPr/>
        </p:nvSpPr>
        <p:spPr>
          <a:xfrm>
            <a:off x="2263320" y="3383280"/>
            <a:ext cx="12794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Talento y raíces nacionales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0"/>
          <p:cNvSpPr/>
          <p:nvPr/>
        </p:nvSpPr>
        <p:spPr>
          <a:xfrm>
            <a:off x="3794760" y="1463040"/>
            <a:ext cx="1553760" cy="29253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1"/>
          <p:cNvSpPr/>
          <p:nvPr/>
        </p:nvSpPr>
        <p:spPr>
          <a:xfrm>
            <a:off x="3794760" y="1645920"/>
            <a:ext cx="1553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s-A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3931920" y="2560320"/>
            <a:ext cx="1279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Experiencia Sensorial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3"/>
          <p:cNvSpPr/>
          <p:nvPr/>
        </p:nvSpPr>
        <p:spPr>
          <a:xfrm>
            <a:off x="3931920" y="3383280"/>
            <a:ext cx="12794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Proceso y notas de cata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4"/>
          <p:cNvSpPr/>
          <p:nvPr/>
        </p:nvSpPr>
        <p:spPr>
          <a:xfrm>
            <a:off x="5463720" y="1463040"/>
            <a:ext cx="1553760" cy="29253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5"/>
          <p:cNvSpPr/>
          <p:nvPr/>
        </p:nvSpPr>
        <p:spPr>
          <a:xfrm>
            <a:off x="5463720" y="1645920"/>
            <a:ext cx="1553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es-A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6"/>
          <p:cNvSpPr/>
          <p:nvPr/>
        </p:nvSpPr>
        <p:spPr>
          <a:xfrm>
            <a:off x="5600880" y="2560320"/>
            <a:ext cx="1279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Lifestyle Premium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7"/>
          <p:cNvSpPr/>
          <p:nvPr/>
        </p:nvSpPr>
        <p:spPr>
          <a:xfrm>
            <a:off x="5600880" y="3383280"/>
            <a:ext cx="12794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Maridaje y packaging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8"/>
          <p:cNvSpPr/>
          <p:nvPr/>
        </p:nvSpPr>
        <p:spPr>
          <a:xfrm>
            <a:off x="7132320" y="1463040"/>
            <a:ext cx="1553760" cy="29253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9"/>
          <p:cNvSpPr/>
          <p:nvPr/>
        </p:nvSpPr>
        <p:spPr>
          <a:xfrm>
            <a:off x="7132320" y="1645920"/>
            <a:ext cx="1553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05</a:t>
            </a:r>
            <a:endParaRPr lang="es-A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0"/>
          <p:cNvSpPr/>
          <p:nvPr/>
        </p:nvSpPr>
        <p:spPr>
          <a:xfrm>
            <a:off x="7269480" y="2560320"/>
            <a:ext cx="1279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Comunidad y Autoridad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1"/>
          <p:cNvSpPr/>
          <p:nvPr/>
        </p:nvSpPr>
        <p:spPr>
          <a:xfrm>
            <a:off x="7269480" y="3383280"/>
            <a:ext cx="12794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Q&amp;A, trivia y testimonios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sldNum" idx="9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E114D36-158D-4341-87B6-BA2FFDEC48C3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457200" y="36576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CALENDARIO · SEMANA 1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457200" y="640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Planificación semana 1</a:t>
            </a:r>
            <a:endParaRPr lang="es-A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"/>
          <p:cNvSpPr/>
          <p:nvPr/>
        </p:nvSpPr>
        <p:spPr>
          <a:xfrm>
            <a:off x="45720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45720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LUN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4"/>
          <p:cNvSpPr/>
          <p:nvPr/>
        </p:nvSpPr>
        <p:spPr>
          <a:xfrm>
            <a:off x="93276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54864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Marca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6"/>
          <p:cNvSpPr/>
          <p:nvPr/>
        </p:nvSpPr>
        <p:spPr>
          <a:xfrm>
            <a:off x="164592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164592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MAR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8"/>
          <p:cNvSpPr/>
          <p:nvPr/>
        </p:nvSpPr>
        <p:spPr>
          <a:xfrm>
            <a:off x="212148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173736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Story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0"/>
          <p:cNvSpPr/>
          <p:nvPr/>
        </p:nvSpPr>
        <p:spPr>
          <a:xfrm>
            <a:off x="283464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283464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MIÉ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2"/>
          <p:cNvSpPr/>
          <p:nvPr/>
        </p:nvSpPr>
        <p:spPr>
          <a:xfrm>
            <a:off x="331020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3"/>
          <p:cNvSpPr/>
          <p:nvPr/>
        </p:nvSpPr>
        <p:spPr>
          <a:xfrm>
            <a:off x="292608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Reel proceso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4"/>
          <p:cNvSpPr/>
          <p:nvPr/>
        </p:nvSpPr>
        <p:spPr>
          <a:xfrm>
            <a:off x="402336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402336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JUE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6"/>
          <p:cNvSpPr/>
          <p:nvPr/>
        </p:nvSpPr>
        <p:spPr>
          <a:xfrm>
            <a:off x="449892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411480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Carrusel historia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8"/>
          <p:cNvSpPr/>
          <p:nvPr/>
        </p:nvSpPr>
        <p:spPr>
          <a:xfrm>
            <a:off x="521208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9"/>
          <p:cNvSpPr/>
          <p:nvPr/>
        </p:nvSpPr>
        <p:spPr>
          <a:xfrm>
            <a:off x="521208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VIE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0"/>
          <p:cNvSpPr/>
          <p:nvPr/>
        </p:nvSpPr>
        <p:spPr>
          <a:xfrm>
            <a:off x="568764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1"/>
          <p:cNvSpPr/>
          <p:nvPr/>
        </p:nvSpPr>
        <p:spPr>
          <a:xfrm>
            <a:off x="530352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Notas de cata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2"/>
          <p:cNvSpPr/>
          <p:nvPr/>
        </p:nvSpPr>
        <p:spPr>
          <a:xfrm>
            <a:off x="640080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3"/>
          <p:cNvSpPr/>
          <p:nvPr/>
        </p:nvSpPr>
        <p:spPr>
          <a:xfrm>
            <a:off x="640080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SÁB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4"/>
          <p:cNvSpPr/>
          <p:nvPr/>
        </p:nvSpPr>
        <p:spPr>
          <a:xfrm>
            <a:off x="687636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5"/>
          <p:cNvSpPr/>
          <p:nvPr/>
        </p:nvSpPr>
        <p:spPr>
          <a:xfrm>
            <a:off x="649224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Lifestyle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6"/>
          <p:cNvSpPr/>
          <p:nvPr/>
        </p:nvSpPr>
        <p:spPr>
          <a:xfrm>
            <a:off x="758952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7"/>
          <p:cNvSpPr/>
          <p:nvPr/>
        </p:nvSpPr>
        <p:spPr>
          <a:xfrm>
            <a:off x="758952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DOM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8"/>
          <p:cNvSpPr/>
          <p:nvPr/>
        </p:nvSpPr>
        <p:spPr>
          <a:xfrm>
            <a:off x="806508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9"/>
          <p:cNvSpPr/>
          <p:nvPr/>
        </p:nvSpPr>
        <p:spPr>
          <a:xfrm>
            <a:off x="768096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Q&amp;A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0"/>
          <p:cNvSpPr/>
          <p:nvPr/>
        </p:nvSpPr>
        <p:spPr>
          <a:xfrm>
            <a:off x="457200" y="40233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Una publicación diaria · Instagram y LinkedIn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sldNum" idx="10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F3A6C58-0D34-4B24-BD4B-CFBCE9BA55D1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/>
          <p:nvPr/>
        </p:nvSpPr>
        <p:spPr>
          <a:xfrm>
            <a:off x="457200" y="36576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CALENDARIO · SEMANA 2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457200" y="640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Planificación semana 2</a:t>
            </a:r>
            <a:endParaRPr lang="es-A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"/>
          <p:cNvSpPr/>
          <p:nvPr/>
        </p:nvSpPr>
        <p:spPr>
          <a:xfrm>
            <a:off x="45720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"/>
          <p:cNvSpPr/>
          <p:nvPr/>
        </p:nvSpPr>
        <p:spPr>
          <a:xfrm>
            <a:off x="45720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LUN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4"/>
          <p:cNvSpPr/>
          <p:nvPr/>
        </p:nvSpPr>
        <p:spPr>
          <a:xfrm>
            <a:off x="93276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5"/>
          <p:cNvSpPr/>
          <p:nvPr/>
        </p:nvSpPr>
        <p:spPr>
          <a:xfrm>
            <a:off x="54864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Diferenciales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6"/>
          <p:cNvSpPr/>
          <p:nvPr/>
        </p:nvSpPr>
        <p:spPr>
          <a:xfrm>
            <a:off x="164592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7"/>
          <p:cNvSpPr/>
          <p:nvPr/>
        </p:nvSpPr>
        <p:spPr>
          <a:xfrm>
            <a:off x="164592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MAR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8"/>
          <p:cNvSpPr/>
          <p:nvPr/>
        </p:nvSpPr>
        <p:spPr>
          <a:xfrm>
            <a:off x="212148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173736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Trivia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0"/>
          <p:cNvSpPr/>
          <p:nvPr/>
        </p:nvSpPr>
        <p:spPr>
          <a:xfrm>
            <a:off x="283464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1"/>
          <p:cNvSpPr/>
          <p:nvPr/>
        </p:nvSpPr>
        <p:spPr>
          <a:xfrm>
            <a:off x="283464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MIÉ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2"/>
          <p:cNvSpPr/>
          <p:nvPr/>
        </p:nvSpPr>
        <p:spPr>
          <a:xfrm>
            <a:off x="331020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3"/>
          <p:cNvSpPr/>
          <p:nvPr/>
        </p:nvSpPr>
        <p:spPr>
          <a:xfrm>
            <a:off x="292608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Carrusel degustación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4"/>
          <p:cNvSpPr/>
          <p:nvPr/>
        </p:nvSpPr>
        <p:spPr>
          <a:xfrm>
            <a:off x="402336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5"/>
          <p:cNvSpPr/>
          <p:nvPr/>
        </p:nvSpPr>
        <p:spPr>
          <a:xfrm>
            <a:off x="402336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JUE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6"/>
          <p:cNvSpPr/>
          <p:nvPr/>
        </p:nvSpPr>
        <p:spPr>
          <a:xfrm>
            <a:off x="449892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7"/>
          <p:cNvSpPr/>
          <p:nvPr/>
        </p:nvSpPr>
        <p:spPr>
          <a:xfrm>
            <a:off x="411480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Reserva 24 años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8"/>
          <p:cNvSpPr/>
          <p:nvPr/>
        </p:nvSpPr>
        <p:spPr>
          <a:xfrm>
            <a:off x="521208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9"/>
          <p:cNvSpPr/>
          <p:nvPr/>
        </p:nvSpPr>
        <p:spPr>
          <a:xfrm>
            <a:off x="521208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VIE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0"/>
          <p:cNvSpPr/>
          <p:nvPr/>
        </p:nvSpPr>
        <p:spPr>
          <a:xfrm>
            <a:off x="568764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1"/>
          <p:cNvSpPr/>
          <p:nvPr/>
        </p:nvSpPr>
        <p:spPr>
          <a:xfrm>
            <a:off x="530352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Maridaje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2"/>
          <p:cNvSpPr/>
          <p:nvPr/>
        </p:nvSpPr>
        <p:spPr>
          <a:xfrm>
            <a:off x="640080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3"/>
          <p:cNvSpPr/>
          <p:nvPr/>
        </p:nvSpPr>
        <p:spPr>
          <a:xfrm>
            <a:off x="640080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SÁB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4"/>
          <p:cNvSpPr/>
          <p:nvPr/>
        </p:nvSpPr>
        <p:spPr>
          <a:xfrm>
            <a:off x="687636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5"/>
          <p:cNvSpPr/>
          <p:nvPr/>
        </p:nvSpPr>
        <p:spPr>
          <a:xfrm>
            <a:off x="649224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Packaging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6"/>
          <p:cNvSpPr/>
          <p:nvPr/>
        </p:nvSpPr>
        <p:spPr>
          <a:xfrm>
            <a:off x="758952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7"/>
          <p:cNvSpPr/>
          <p:nvPr/>
        </p:nvSpPr>
        <p:spPr>
          <a:xfrm>
            <a:off x="758952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DOM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8"/>
          <p:cNvSpPr/>
          <p:nvPr/>
        </p:nvSpPr>
        <p:spPr>
          <a:xfrm>
            <a:off x="806508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9"/>
          <p:cNvSpPr/>
          <p:nvPr/>
        </p:nvSpPr>
        <p:spPr>
          <a:xfrm>
            <a:off x="768096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Testimonios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0"/>
          <p:cNvSpPr/>
          <p:nvPr/>
        </p:nvSpPr>
        <p:spPr>
          <a:xfrm>
            <a:off x="457200" y="40233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Una publicación diaria · Instagram y LinkedIn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1"/>
          <p:cNvSpPr>
            <a:spLocks noGrp="1"/>
          </p:cNvSpPr>
          <p:nvPr>
            <p:ph type="sldNum" idx="11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CE47741-94C0-4729-970C-CB5A4E1CEFB5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457200" y="36576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MOCKUP · FLYER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457200" y="640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Concepto del flyer</a:t>
            </a:r>
            <a:endParaRPr lang="es-A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"/>
          <p:cNvSpPr/>
          <p:nvPr/>
        </p:nvSpPr>
        <p:spPr>
          <a:xfrm>
            <a:off x="457200" y="1463040"/>
            <a:ext cx="4114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CONCEPTO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457200" y="171900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Negro mate con detalles dorados metálicos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457200" y="2240280"/>
            <a:ext cx="4114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PROTAGONISTAS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457200" y="249624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Reserva Azul 24 años y Reserva Clásica 12 años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6"/>
          <p:cNvSpPr/>
          <p:nvPr/>
        </p:nvSpPr>
        <p:spPr>
          <a:xfrm>
            <a:off x="457200" y="3017520"/>
            <a:ext cx="4114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MENSAJE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7"/>
          <p:cNvSpPr/>
          <p:nvPr/>
        </p:nvSpPr>
        <p:spPr>
          <a:xfrm>
            <a:off x="457200" y="327348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Edición limitada y numerada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8"/>
          <p:cNvSpPr/>
          <p:nvPr/>
        </p:nvSpPr>
        <p:spPr>
          <a:xfrm>
            <a:off x="457200" y="3794760"/>
            <a:ext cx="4114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CTA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9"/>
          <p:cNvSpPr/>
          <p:nvPr/>
        </p:nvSpPr>
        <p:spPr>
          <a:xfrm>
            <a:off x="457200" y="405072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Consultar disponibilidad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1"/>
          <p:cNvSpPr>
            <a:spLocks noGrp="1"/>
          </p:cNvSpPr>
          <p:nvPr>
            <p:ph type="sldNum" idx="12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802F0DB-82D8-4D13-AFD0-AB003D994074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76" name=""/>
          <p:cNvPicPr/>
          <p:nvPr/>
        </p:nvPicPr>
        <p:blipFill>
          <a:blip r:embed="rId1"/>
          <a:stretch/>
        </p:blipFill>
        <p:spPr>
          <a:xfrm>
            <a:off x="5068440" y="365760"/>
            <a:ext cx="3391200" cy="424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57200" y="36576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MOCKUP · CARRUSEL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457200" y="640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Carrusel de Instagram</a:t>
            </a:r>
            <a:endParaRPr lang="es-A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"/>
          <p:cNvSpPr/>
          <p:nvPr/>
        </p:nvSpPr>
        <p:spPr>
          <a:xfrm>
            <a:off x="457200" y="1463040"/>
            <a:ext cx="1279440" cy="2468160"/>
          </a:xfrm>
          <a:prstGeom prst="rect">
            <a:avLst/>
          </a:prstGeom>
          <a:solidFill>
            <a:srgbClr val="120E05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548640" y="1572840"/>
            <a:ext cx="1096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1 / 6</a:t>
            </a:r>
            <a:endParaRPr lang="es-A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548640" y="2286000"/>
            <a:ext cx="10965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Portada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567000" y="2926080"/>
            <a:ext cx="1059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Noble Cognac y tagline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6"/>
          <p:cNvSpPr/>
          <p:nvPr/>
        </p:nvSpPr>
        <p:spPr>
          <a:xfrm>
            <a:off x="1847160" y="1463040"/>
            <a:ext cx="1279440" cy="2468160"/>
          </a:xfrm>
          <a:prstGeom prst="rect">
            <a:avLst/>
          </a:prstGeom>
          <a:solidFill>
            <a:srgbClr val="1A1A1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7"/>
          <p:cNvSpPr/>
          <p:nvPr/>
        </p:nvSpPr>
        <p:spPr>
          <a:xfrm>
            <a:off x="1938600" y="1572840"/>
            <a:ext cx="1096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2 / 6</a:t>
            </a:r>
            <a:endParaRPr lang="es-A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8"/>
          <p:cNvSpPr/>
          <p:nvPr/>
        </p:nvSpPr>
        <p:spPr>
          <a:xfrm>
            <a:off x="1938600" y="2286000"/>
            <a:ext cx="10965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Problema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9"/>
          <p:cNvSpPr/>
          <p:nvPr/>
        </p:nvSpPr>
        <p:spPr>
          <a:xfrm>
            <a:off x="1956960" y="2926080"/>
            <a:ext cx="1059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Sin coñac premium nacional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0"/>
          <p:cNvSpPr/>
          <p:nvPr/>
        </p:nvSpPr>
        <p:spPr>
          <a:xfrm>
            <a:off x="3237120" y="1463040"/>
            <a:ext cx="1279440" cy="2468160"/>
          </a:xfrm>
          <a:prstGeom prst="rect">
            <a:avLst/>
          </a:prstGeom>
          <a:solidFill>
            <a:srgbClr val="120E05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1"/>
          <p:cNvSpPr/>
          <p:nvPr/>
        </p:nvSpPr>
        <p:spPr>
          <a:xfrm>
            <a:off x="3328560" y="1572840"/>
            <a:ext cx="1096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3 / 6</a:t>
            </a:r>
            <a:endParaRPr lang="es-A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2"/>
          <p:cNvSpPr/>
          <p:nvPr/>
        </p:nvSpPr>
        <p:spPr>
          <a:xfrm>
            <a:off x="3328560" y="2286000"/>
            <a:ext cx="10965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Solución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3"/>
          <p:cNvSpPr/>
          <p:nvPr/>
        </p:nvSpPr>
        <p:spPr>
          <a:xfrm>
            <a:off x="3346560" y="2926080"/>
            <a:ext cx="1059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Coñac venezolano artesanal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4"/>
          <p:cNvSpPr/>
          <p:nvPr/>
        </p:nvSpPr>
        <p:spPr>
          <a:xfrm>
            <a:off x="4626720" y="1463040"/>
            <a:ext cx="1279440" cy="2468160"/>
          </a:xfrm>
          <a:prstGeom prst="rect">
            <a:avLst/>
          </a:prstGeom>
          <a:solidFill>
            <a:srgbClr val="1A1A1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5"/>
          <p:cNvSpPr/>
          <p:nvPr/>
        </p:nvSpPr>
        <p:spPr>
          <a:xfrm>
            <a:off x="4718160" y="1572840"/>
            <a:ext cx="1096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4 / 6</a:t>
            </a:r>
            <a:endParaRPr lang="es-A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6"/>
          <p:cNvSpPr/>
          <p:nvPr/>
        </p:nvSpPr>
        <p:spPr>
          <a:xfrm>
            <a:off x="4718160" y="2286000"/>
            <a:ext cx="10965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Diferenciales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7"/>
          <p:cNvSpPr/>
          <p:nvPr/>
        </p:nvSpPr>
        <p:spPr>
          <a:xfrm>
            <a:off x="4736520" y="2926080"/>
            <a:ext cx="1059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Lotes numerados y roble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8"/>
          <p:cNvSpPr/>
          <p:nvPr/>
        </p:nvSpPr>
        <p:spPr>
          <a:xfrm>
            <a:off x="6016680" y="1463040"/>
            <a:ext cx="1279440" cy="2468160"/>
          </a:xfrm>
          <a:prstGeom prst="rect">
            <a:avLst/>
          </a:prstGeom>
          <a:solidFill>
            <a:srgbClr val="120E05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9"/>
          <p:cNvSpPr/>
          <p:nvPr/>
        </p:nvSpPr>
        <p:spPr>
          <a:xfrm>
            <a:off x="6108120" y="1572840"/>
            <a:ext cx="1096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5 / 6</a:t>
            </a:r>
            <a:endParaRPr lang="es-A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0"/>
          <p:cNvSpPr/>
          <p:nvPr/>
        </p:nvSpPr>
        <p:spPr>
          <a:xfrm>
            <a:off x="6108120" y="2286000"/>
            <a:ext cx="10965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Notas de cata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1"/>
          <p:cNvSpPr/>
          <p:nvPr/>
        </p:nvSpPr>
        <p:spPr>
          <a:xfrm>
            <a:off x="6126480" y="2926080"/>
            <a:ext cx="1059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Vainilla, caramelo y madera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2"/>
          <p:cNvSpPr/>
          <p:nvPr/>
        </p:nvSpPr>
        <p:spPr>
          <a:xfrm>
            <a:off x="7406640" y="1463040"/>
            <a:ext cx="1279440" cy="2468160"/>
          </a:xfrm>
          <a:prstGeom prst="rect">
            <a:avLst/>
          </a:prstGeom>
          <a:solidFill>
            <a:srgbClr val="1A1A1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3"/>
          <p:cNvSpPr/>
          <p:nvPr/>
        </p:nvSpPr>
        <p:spPr>
          <a:xfrm>
            <a:off x="7498080" y="1572840"/>
            <a:ext cx="1096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6 / 6</a:t>
            </a:r>
            <a:endParaRPr lang="es-A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4"/>
          <p:cNvSpPr/>
          <p:nvPr/>
        </p:nvSpPr>
        <p:spPr>
          <a:xfrm>
            <a:off x="7498080" y="2286000"/>
            <a:ext cx="10965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CTA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5"/>
          <p:cNvSpPr/>
          <p:nvPr/>
        </p:nvSpPr>
        <p:spPr>
          <a:xfrm>
            <a:off x="7516440" y="2926080"/>
            <a:ext cx="1059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Escríbenos · Delivery 24 h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6"/>
          <p:cNvSpPr/>
          <p:nvPr/>
        </p:nvSpPr>
        <p:spPr>
          <a:xfrm>
            <a:off x="457200" y="41605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Formato 4:5 · desliza para ver la historia de marca →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1"/>
          <p:cNvSpPr>
            <a:spLocks noGrp="1"/>
          </p:cNvSpPr>
          <p:nvPr>
            <p:ph type="sldNum" idx="13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C5F349B-B6EB-4D76-8FB3-E6C625C743BF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457200" y="36576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OPTIMIZACIÓN DE PERFIL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457200" y="640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Instagram y Facebook</a:t>
            </a:r>
            <a:endParaRPr lang="es-A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"/>
          <p:cNvSpPr/>
          <p:nvPr/>
        </p:nvSpPr>
        <p:spPr>
          <a:xfrm>
            <a:off x="548640" y="1371600"/>
            <a:ext cx="2742480" cy="32911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3"/>
          <p:cNvSpPr/>
          <p:nvPr/>
        </p:nvSpPr>
        <p:spPr>
          <a:xfrm>
            <a:off x="822960" y="1600200"/>
            <a:ext cx="730800" cy="730800"/>
          </a:xfrm>
          <a:prstGeom prst="ellipse">
            <a:avLst/>
          </a:prstGeom>
          <a:solidFill>
            <a:srgbClr val="120E05"/>
          </a:solidFill>
          <a:ln w="12700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822960" y="160020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NC</a:t>
            </a:r>
            <a:endParaRPr lang="es-A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1691640" y="1691640"/>
            <a:ext cx="146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Noble Cognac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6"/>
          <p:cNvSpPr/>
          <p:nvPr/>
        </p:nvSpPr>
        <p:spPr>
          <a:xfrm>
            <a:off x="1691640" y="1965960"/>
            <a:ext cx="146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Coñac premium venezolano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7"/>
          <p:cNvSpPr/>
          <p:nvPr/>
        </p:nvSpPr>
        <p:spPr>
          <a:xfrm>
            <a:off x="822960" y="2560320"/>
            <a:ext cx="21938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Pequeños lotes numerados</a:t>
            </a:r>
            <a:endParaRPr lang="es-A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Delivery en Maracay · &lt;24 h</a:t>
            </a:r>
            <a:endParaRPr lang="es-A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Cotizaciones corporativas</a:t>
            </a:r>
            <a:endParaRPr lang="es-A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8"/>
          <p:cNvSpPr/>
          <p:nvPr/>
        </p:nvSpPr>
        <p:spPr>
          <a:xfrm>
            <a:off x="777240" y="3611880"/>
            <a:ext cx="438120" cy="438120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9"/>
          <p:cNvSpPr/>
          <p:nvPr/>
        </p:nvSpPr>
        <p:spPr>
          <a:xfrm>
            <a:off x="685800" y="4114800"/>
            <a:ext cx="621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Marca</a:t>
            </a:r>
            <a:endParaRPr lang="es-A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0"/>
          <p:cNvSpPr/>
          <p:nvPr/>
        </p:nvSpPr>
        <p:spPr>
          <a:xfrm>
            <a:off x="1398960" y="3611880"/>
            <a:ext cx="438120" cy="438120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1"/>
          <p:cNvSpPr/>
          <p:nvPr/>
        </p:nvSpPr>
        <p:spPr>
          <a:xfrm>
            <a:off x="1307520" y="4114800"/>
            <a:ext cx="621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Proceso</a:t>
            </a:r>
            <a:endParaRPr lang="es-A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2"/>
          <p:cNvSpPr/>
          <p:nvPr/>
        </p:nvSpPr>
        <p:spPr>
          <a:xfrm>
            <a:off x="2020680" y="3611880"/>
            <a:ext cx="438120" cy="438120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3"/>
          <p:cNvSpPr/>
          <p:nvPr/>
        </p:nvSpPr>
        <p:spPr>
          <a:xfrm>
            <a:off x="1929240" y="4114800"/>
            <a:ext cx="621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Cata</a:t>
            </a:r>
            <a:endParaRPr lang="es-A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4"/>
          <p:cNvSpPr/>
          <p:nvPr/>
        </p:nvSpPr>
        <p:spPr>
          <a:xfrm>
            <a:off x="2642760" y="3611880"/>
            <a:ext cx="438120" cy="438120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5"/>
          <p:cNvSpPr/>
          <p:nvPr/>
        </p:nvSpPr>
        <p:spPr>
          <a:xfrm>
            <a:off x="2551320" y="4114800"/>
            <a:ext cx="621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Reservas</a:t>
            </a:r>
            <a:endParaRPr lang="es-A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6"/>
          <p:cNvSpPr/>
          <p:nvPr/>
        </p:nvSpPr>
        <p:spPr>
          <a:xfrm>
            <a:off x="3749040" y="1371600"/>
            <a:ext cx="4937040" cy="56628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7"/>
          <p:cNvSpPr/>
          <p:nvPr/>
        </p:nvSpPr>
        <p:spPr>
          <a:xfrm>
            <a:off x="3931920" y="1371600"/>
            <a:ext cx="14623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Bio premium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8"/>
          <p:cNvSpPr/>
          <p:nvPr/>
        </p:nvSpPr>
        <p:spPr>
          <a:xfrm>
            <a:off x="5394960" y="1371600"/>
            <a:ext cx="31996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Propuesta de valor en tres líneas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9"/>
          <p:cNvSpPr/>
          <p:nvPr/>
        </p:nvSpPr>
        <p:spPr>
          <a:xfrm>
            <a:off x="3749040" y="2030040"/>
            <a:ext cx="4937040" cy="56628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0"/>
          <p:cNvSpPr/>
          <p:nvPr/>
        </p:nvSpPr>
        <p:spPr>
          <a:xfrm>
            <a:off x="3931920" y="2030040"/>
            <a:ext cx="14623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Destacadas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1"/>
          <p:cNvSpPr/>
          <p:nvPr/>
        </p:nvSpPr>
        <p:spPr>
          <a:xfrm>
            <a:off x="5394960" y="2030040"/>
            <a:ext cx="31996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Marca, proceso, notas de cata y reservas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22"/>
          <p:cNvSpPr/>
          <p:nvPr/>
        </p:nvSpPr>
        <p:spPr>
          <a:xfrm>
            <a:off x="3749040" y="2688480"/>
            <a:ext cx="4937040" cy="56628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3"/>
          <p:cNvSpPr/>
          <p:nvPr/>
        </p:nvSpPr>
        <p:spPr>
          <a:xfrm>
            <a:off x="3931920" y="2688480"/>
            <a:ext cx="14623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CTA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4"/>
          <p:cNvSpPr/>
          <p:nvPr/>
        </p:nvSpPr>
        <p:spPr>
          <a:xfrm>
            <a:off x="5394960" y="2688480"/>
            <a:ext cx="31996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Consultar disponibilidad y cotizaciones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5"/>
          <p:cNvSpPr/>
          <p:nvPr/>
        </p:nvSpPr>
        <p:spPr>
          <a:xfrm>
            <a:off x="3749040" y="3346560"/>
            <a:ext cx="4937040" cy="56628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6"/>
          <p:cNvSpPr/>
          <p:nvPr/>
        </p:nvSpPr>
        <p:spPr>
          <a:xfrm>
            <a:off x="3931920" y="3346560"/>
            <a:ext cx="14623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Link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7"/>
          <p:cNvSpPr/>
          <p:nvPr/>
        </p:nvSpPr>
        <p:spPr>
          <a:xfrm>
            <a:off x="5394960" y="3346560"/>
            <a:ext cx="31996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Enlace único a tienda o WhatsApp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8"/>
          <p:cNvSpPr/>
          <p:nvPr/>
        </p:nvSpPr>
        <p:spPr>
          <a:xfrm>
            <a:off x="3749040" y="4005000"/>
            <a:ext cx="4937040" cy="56628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9"/>
          <p:cNvSpPr/>
          <p:nvPr/>
        </p:nvSpPr>
        <p:spPr>
          <a:xfrm>
            <a:off x="3931920" y="4005000"/>
            <a:ext cx="14623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Palabras clave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30"/>
          <p:cNvSpPr/>
          <p:nvPr/>
        </p:nvSpPr>
        <p:spPr>
          <a:xfrm>
            <a:off x="5394960" y="4005000"/>
            <a:ext cx="31996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Coñac venezolano, premium, artesanal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1"/>
          <p:cNvSpPr>
            <a:spLocks noGrp="1"/>
          </p:cNvSpPr>
          <p:nvPr>
            <p:ph type="sldNum" idx="14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C24B46AB-A767-4E48-A251-5219E7A9EB10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0"/>
          <p:cNvSpPr/>
          <p:nvPr/>
        </p:nvSpPr>
        <p:spPr>
          <a:xfrm>
            <a:off x="457200" y="36576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RESULTADOS ESPERADOS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"/>
          <p:cNvSpPr/>
          <p:nvPr/>
        </p:nvSpPr>
        <p:spPr>
          <a:xfrm>
            <a:off x="457200" y="640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Objetivos de marca y crecimiento</a:t>
            </a:r>
            <a:endParaRPr lang="es-A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9" name="Chart 0"/>
          <p:cNvGraphicFramePr/>
          <p:nvPr/>
        </p:nvGraphicFramePr>
        <p:xfrm>
          <a:off x="457200" y="1371600"/>
          <a:ext cx="4937040" cy="3199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40" name="Shape 2"/>
          <p:cNvSpPr/>
          <p:nvPr/>
        </p:nvSpPr>
        <p:spPr>
          <a:xfrm>
            <a:off x="5669280" y="1371600"/>
            <a:ext cx="3016800" cy="9594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"/>
          <p:cNvSpPr/>
          <p:nvPr/>
        </p:nvSpPr>
        <p:spPr>
          <a:xfrm>
            <a:off x="5806440" y="1481400"/>
            <a:ext cx="2742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Año 2</a:t>
            </a:r>
            <a:endParaRPr lang="es-A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4"/>
          <p:cNvSpPr/>
          <p:nvPr/>
        </p:nvSpPr>
        <p:spPr>
          <a:xfrm>
            <a:off x="5806440" y="1938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Punto de equilibrio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5"/>
          <p:cNvSpPr/>
          <p:nvPr/>
        </p:nvSpPr>
        <p:spPr>
          <a:xfrm>
            <a:off x="5669280" y="2468880"/>
            <a:ext cx="3016800" cy="9594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6"/>
          <p:cNvSpPr/>
          <p:nvPr/>
        </p:nvSpPr>
        <p:spPr>
          <a:xfrm>
            <a:off x="5806440" y="2578680"/>
            <a:ext cx="2742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40 · 35 · 25 %</a:t>
            </a:r>
            <a:endParaRPr lang="es-A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7"/>
          <p:cNvSpPr/>
          <p:nvPr/>
        </p:nvSpPr>
        <p:spPr>
          <a:xfrm>
            <a:off x="5806440" y="303588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Digital · Corporativo · Exportación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8"/>
          <p:cNvSpPr/>
          <p:nvPr/>
        </p:nvSpPr>
        <p:spPr>
          <a:xfrm>
            <a:off x="5669280" y="3566160"/>
            <a:ext cx="3016800" cy="9594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9"/>
          <p:cNvSpPr/>
          <p:nvPr/>
        </p:nvSpPr>
        <p:spPr>
          <a:xfrm>
            <a:off x="5806440" y="3675960"/>
            <a:ext cx="2742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2028</a:t>
            </a:r>
            <a:endParaRPr lang="es-A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0"/>
          <p:cNvSpPr/>
          <p:nvPr/>
        </p:nvSpPr>
        <p:spPr>
          <a:xfrm>
            <a:off x="5806440" y="413316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Marca referente premium en Venezuela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1"/>
          <p:cNvSpPr>
            <a:spLocks noGrp="1"/>
          </p:cNvSpPr>
          <p:nvPr>
            <p:ph type="sldNum" idx="15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67281BE-7FC3-4C2F-AA85-3CAE113B7344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0"/>
          <p:cNvSpPr/>
          <p:nvPr/>
        </p:nvSpPr>
        <p:spPr>
          <a:xfrm>
            <a:off x="4206240" y="502920"/>
            <a:ext cx="730800" cy="730800"/>
          </a:xfrm>
          <a:prstGeom prst="ellipse">
            <a:avLst/>
          </a:prstGeom>
          <a:solidFill>
            <a:srgbClr val="120E05"/>
          </a:solidFill>
          <a:ln w="12700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"/>
          <p:cNvSpPr/>
          <p:nvPr/>
        </p:nvSpPr>
        <p:spPr>
          <a:xfrm>
            <a:off x="4206240" y="50292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NC</a:t>
            </a:r>
            <a:endParaRPr lang="es-A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"/>
          <p:cNvSpPr/>
          <p:nvPr/>
        </p:nvSpPr>
        <p:spPr>
          <a:xfrm>
            <a:off x="2011680" y="1463040"/>
            <a:ext cx="51199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i="1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El lujo artesanal no se produce en masa.</a:t>
            </a:r>
            <a:endParaRPr lang="es-A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3"/>
          <p:cNvSpPr/>
          <p:nvPr/>
        </p:nvSpPr>
        <p:spPr>
          <a:xfrm>
            <a:off x="2011680" y="2651760"/>
            <a:ext cx="5119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Nuestras partidas son limitadas y numeradas.</a:t>
            </a:r>
            <a:endParaRPr lang="es-A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4"/>
          <p:cNvSpPr/>
          <p:nvPr/>
        </p:nvSpPr>
        <p:spPr>
          <a:xfrm>
            <a:off x="2011680" y="3383280"/>
            <a:ext cx="5119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Delivery directo en Maracay · Entrega en menos de 24 horas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Cotizaciones corporativas disponibles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5"/>
          <p:cNvSpPr/>
          <p:nvPr/>
        </p:nvSpPr>
        <p:spPr>
          <a:xfrm>
            <a:off x="2011680" y="4206240"/>
            <a:ext cx="5119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ELEGANCIA CON RAÍCES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1"/>
          <p:cNvSpPr>
            <a:spLocks noGrp="1"/>
          </p:cNvSpPr>
          <p:nvPr>
            <p:ph type="sldNum" idx="16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3A066767-772F-4932-B857-6E692E0F3894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57" name=""/>
          <p:cNvPicPr/>
          <p:nvPr/>
        </p:nvPicPr>
        <p:blipFill>
          <a:blip r:embed="rId1"/>
          <a:stretch/>
        </p:blipFill>
        <p:spPr>
          <a:xfrm rot="13800">
            <a:off x="184320" y="2163960"/>
            <a:ext cx="2009520" cy="269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8" name=""/>
          <p:cNvPicPr/>
          <p:nvPr/>
        </p:nvPicPr>
        <p:blipFill>
          <a:blip r:embed="rId2"/>
          <a:stretch/>
        </p:blipFill>
        <p:spPr>
          <a:xfrm rot="21594000">
            <a:off x="6909120" y="2341800"/>
            <a:ext cx="2021400" cy="2707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Collabora_Office/25.04.12.20260929$Linux_X86_64 LibreOffice_project/9328c419b8c298bae3e8500bb812ad06f718acd5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2026-10-02T02:26:00Z</dcterms:created>
  <dc:creator>PptxGenJS</dc:creator>
  <dc:description/>
  <dc:language>es-AR</dc:language>
  <cp:lastModifiedBy/>
  <dcterms:modified xsi:type="dcterms:W3CDTF">2026-10-02T15:41:34Z</dcterms:modified>
  <cp:revision>4</cp:revision>
  <dc:subject>PptxGenJS Presentation</dc:subject>
  <dc:title>Noble Cognac — Presentación Estratégica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