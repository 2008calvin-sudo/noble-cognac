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8" r:id="rId17"/>
    <p:sldId id="269" r:id="rId18"/>
    <p:sldId id="270" r:id="rId19"/>
    <p:sldId id="266" r:id="rId14"/>
    <p:sldId id="267" r:id="rId15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  <Relationship Id="rId17" Type="http://schemas.openxmlformats.org/officeDocument/2006/relationships/slide" Target="slides/slide13.xml"/>
  <Relationship Id="rId18" Type="http://schemas.openxmlformats.org/officeDocument/2006/relationships/slide" Target="slides/slide14.xml"/>
  <Relationship Id="rId19" Type="http://schemas.openxmlformats.org/officeDocument/2006/relationships/slide" Target="slides/slide15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200" b="0" u="none" strike="noStrike">
                <a:solidFill>
                  <a:srgbClr val="E8C97A"/>
                </a:solidFill>
                <a:uFillTx/>
                <a:latin typeface="Calibri"/>
              </a:rPr>
              <a:t>Proyección financiera (USD miles)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USD miles</c:v>
                </c:pt>
              </c:strCache>
            </c:strRef>
          </c:tx>
          <c:spPr>
            <a:solidFill>
              <a:srgbClr val="C9A84C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E8E0D0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5"/>
                <c:pt idx="0">
                  <c:v>Año 1</c:v>
                </c:pt>
                <c:pt idx="1">
                  <c:v>Año 2</c:v>
                </c:pt>
                <c:pt idx="2">
                  <c:v>Año 3</c:v>
                </c:pt>
                <c:pt idx="3">
                  <c:v>Año 4</c:v>
                </c:pt>
                <c:pt idx="4">
                  <c:v>Año 5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5"/>
                <c:pt idx="0">
                  <c:v>19</c:v>
                </c:pt>
                <c:pt idx="1">
                  <c:v>24.7</c:v>
                </c:pt>
                <c:pt idx="2">
                  <c:v>32.3</c:v>
                </c:pt>
                <c:pt idx="3">
                  <c:v>41.8</c:v>
                </c:pt>
                <c:pt idx="4">
                  <c:v>57</c:v>
                </c:pt>
              </c:numCache>
            </c:numRef>
          </c:val>
        </c:ser>
        <c:gapWidth val="60"/>
        <c:overlap val="0"/>
        <c:axId val="23707508"/>
        <c:axId val="16867856"/>
      </c:barChart>
      <c:catAx>
        <c:axId val="237075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9A8E7A"/>
                </a:solidFill>
                <a:uFillTx/>
                <a:latin typeface="Calibri"/>
              </a:defRPr>
            </a:pPr>
          </a:p>
        </c:txPr>
        <c:crossAx val="16867856"/>
        <c:crosses val="autoZero"/>
        <c:auto val="1"/>
        <c:lblAlgn val="ctr"/>
        <c:lblOffset val="100"/>
        <c:noMultiLvlLbl val="0"/>
      </c:catAx>
      <c:valAx>
        <c:axId val="16867856"/>
        <c:scaling>
          <c:orientation val="minMax"/>
        </c:scaling>
        <c:delete val="0"/>
        <c:axPos val="l"/>
        <c:majorGridlines>
          <c:spPr>
            <a:ln w="6480">
              <a:solidFill>
                <a:srgbClr val="2A2A2A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9A8E7A"/>
                </a:solidFill>
                <a:uFillTx/>
                <a:latin typeface="Calibri"/>
              </a:defRPr>
            </a:pPr>
          </a:p>
        </c:txPr>
        <c:crossAx val="23707508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</a:t>
            </a: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F448913-04F6-429F-9E77-1E4224181734}" type="slidenum"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D398FE3-D6B5-493F-A1FA-4DDAFFE23E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4225AC6-BE61-48C1-B532-3B4832A156A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6AEBDF7-BAF8-4AEE-A673-E904CBD602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2B37298-7259-458B-B9AE-0CC81C1A787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1F5109-283E-41DE-BA2F-A15F0B0FD7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0E50461-A23E-43A1-8A8E-32A14673573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2F0928-33AC-4777-91F0-0FE1A902BA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2EDBA54-1F02-43B1-9A8B-5E5E9A42F3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070B30B-C737-4A4A-B54E-AC7B860C9B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C7511E-186D-42C3-8D68-0622854009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0633F1-9775-4646-93E2-D40B51DFD9E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F79DFDA-790A-4FCB-85A1-92D260777F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C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819B5D58-33FA-48BC-8073-27FAD76F248A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s-A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s-A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/home/claude/img/img0.jpg"/>
          <p:cNvPicPr/>
          <p:nvPr/>
        </p:nvPicPr>
        <p:blipFill>
          <a:blip r:embed="rId1"/>
          <a:stretch/>
        </p:blipFill>
        <p:spPr>
          <a:xfrm>
            <a:off x="5303520" y="0"/>
            <a:ext cx="383976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Shape 0"/>
          <p:cNvSpPr/>
          <p:nvPr/>
        </p:nvSpPr>
        <p:spPr>
          <a:xfrm>
            <a:off x="548640" y="640080"/>
            <a:ext cx="822240" cy="822240"/>
          </a:xfrm>
          <a:prstGeom prst="ellipse">
            <a:avLst/>
          </a:prstGeom>
          <a:solidFill>
            <a:srgbClr val="120E05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548640" y="640080"/>
            <a:ext cx="8222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NC</a:t>
            </a: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548640" y="1737360"/>
            <a:ext cx="45712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0" u="none" spc="601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NOBLE COGNAC</a:t>
            </a:r>
            <a:endParaRPr lang="es-AR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548640" y="2560320"/>
            <a:ext cx="4571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9A8E7A"/>
                </a:solidFill>
                <a:effectLst/>
                <a:uFillTx/>
                <a:latin typeface="Cambria"/>
                <a:ea typeface="Cambria"/>
              </a:rPr>
              <a:t>Elegancia Contemporánea · Raíces de Tradición</a:t>
            </a:r>
            <a:endParaRPr lang="es-A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4"/>
          <p:cNvSpPr/>
          <p:nvPr/>
        </p:nvSpPr>
        <p:spPr>
          <a:xfrm>
            <a:off x="548640" y="33832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PRESENTACIÓN ESTRATÉGICA Y MARKETING PREMIUM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548640" y="374904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Venezuela · Since 2025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sldNum" idx="5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B06EAFD-240B-42F9-9A0D-9D593A421FA2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 descr="/home/claude/img/img1.jpg"/>
          <p:cNvPicPr/>
          <p:nvPr/>
        </p:nvPicPr>
        <p:blipFill>
          <a:blip r:embed="rId1"/>
          <a:stretch/>
        </p:blipFill>
        <p:spPr>
          <a:xfrm>
            <a:off x="0" y="0"/>
            <a:ext cx="3382560" cy="514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Text 0"/>
          <p:cNvSpPr/>
          <p:nvPr/>
        </p:nvSpPr>
        <p:spPr>
          <a:xfrm>
            <a:off x="3840480" y="411480"/>
            <a:ext cx="48456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LA MARCA · FILOSOFÍA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3840480" y="777240"/>
            <a:ext cx="4845600" cy="11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0" i="1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“¿Cuándo fue la última vez que una bebida habló realmente de ti?”</a:t>
            </a:r>
            <a:endParaRPr lang="es-AR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3840480" y="2240280"/>
            <a:ext cx="2376720" cy="22852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023360" y="23958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Misión</a:t>
            </a:r>
            <a:endParaRPr lang="es-A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4"/>
          <p:cNvSpPr/>
          <p:nvPr/>
        </p:nvSpPr>
        <p:spPr>
          <a:xfrm>
            <a:off x="4023360" y="2834640"/>
            <a:ext cx="201096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Elaborar y comercializar un coñac venezolano premium que combine la elegancia del coñac clásico con la autenticidad artesanal nacional.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6309360" y="2240280"/>
            <a:ext cx="2376720" cy="22852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6492240" y="23958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Visión</a:t>
            </a:r>
            <a:endParaRPr lang="es-A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6492240" y="2834640"/>
            <a:ext cx="2010960" cy="155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Ser la marca referente del segmento premium en Venezuela para 2028, con proyección exportadora hacia Latinoamérica y Europa.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sldNum" idx="6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9AAFB58-479B-4D29-A68C-3F34F5CD2D9C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PROPUESTA DE VALOR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Artesanía en cada botella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"/>
          <p:cNvSpPr/>
          <p:nvPr/>
        </p:nvSpPr>
        <p:spPr>
          <a:xfrm>
            <a:off x="457200" y="1417320"/>
            <a:ext cx="2651040" cy="1508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3"/>
          <p:cNvSpPr/>
          <p:nvPr/>
        </p:nvSpPr>
        <p:spPr>
          <a:xfrm>
            <a:off x="621720" y="1572840"/>
            <a:ext cx="328320" cy="3283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621720" y="15728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1051560" y="157284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Proceso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621720" y="2057400"/>
            <a:ext cx="233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Alambiques de cobre, añejamiento en barricas de roble y pequeños lotes numerados.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7"/>
          <p:cNvSpPr/>
          <p:nvPr/>
        </p:nvSpPr>
        <p:spPr>
          <a:xfrm>
            <a:off x="3246120" y="1417320"/>
            <a:ext cx="2651040" cy="1508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8"/>
          <p:cNvSpPr/>
          <p:nvPr/>
        </p:nvSpPr>
        <p:spPr>
          <a:xfrm>
            <a:off x="3410640" y="1572840"/>
            <a:ext cx="328320" cy="3283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9"/>
          <p:cNvSpPr/>
          <p:nvPr/>
        </p:nvSpPr>
        <p:spPr>
          <a:xfrm>
            <a:off x="3410640" y="15728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0"/>
          <p:cNvSpPr/>
          <p:nvPr/>
        </p:nvSpPr>
        <p:spPr>
          <a:xfrm>
            <a:off x="3840480" y="157284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Perfil sensorial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1"/>
          <p:cNvSpPr/>
          <p:nvPr/>
        </p:nvSpPr>
        <p:spPr>
          <a:xfrm>
            <a:off x="3410640" y="2057400"/>
            <a:ext cx="233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Vainilla, caramelo y madera fina, con retrogusto largo y sofisticado.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2"/>
          <p:cNvSpPr/>
          <p:nvPr/>
        </p:nvSpPr>
        <p:spPr>
          <a:xfrm>
            <a:off x="6035040" y="1417320"/>
            <a:ext cx="2651040" cy="1508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3"/>
          <p:cNvSpPr/>
          <p:nvPr/>
        </p:nvSpPr>
        <p:spPr>
          <a:xfrm>
            <a:off x="6199560" y="1572840"/>
            <a:ext cx="328320" cy="3283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4"/>
          <p:cNvSpPr/>
          <p:nvPr/>
        </p:nvSpPr>
        <p:spPr>
          <a:xfrm>
            <a:off x="6199560" y="157284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5"/>
          <p:cNvSpPr/>
          <p:nvPr/>
        </p:nvSpPr>
        <p:spPr>
          <a:xfrm>
            <a:off x="6629400" y="157284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Presentaciones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6"/>
          <p:cNvSpPr/>
          <p:nvPr/>
        </p:nvSpPr>
        <p:spPr>
          <a:xfrm>
            <a:off x="6199560" y="2057400"/>
            <a:ext cx="233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Clásica 700 ml y Reserva Especial 350 ml en cofre de madera numerado.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7"/>
          <p:cNvSpPr/>
          <p:nvPr/>
        </p:nvSpPr>
        <p:spPr>
          <a:xfrm>
            <a:off x="457200" y="3063240"/>
            <a:ext cx="2651040" cy="1508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8"/>
          <p:cNvSpPr/>
          <p:nvPr/>
        </p:nvSpPr>
        <p:spPr>
          <a:xfrm>
            <a:off x="621720" y="3218760"/>
            <a:ext cx="328320" cy="3283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9"/>
          <p:cNvSpPr/>
          <p:nvPr/>
        </p:nvSpPr>
        <p:spPr>
          <a:xfrm>
            <a:off x="621720" y="32187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0"/>
          <p:cNvSpPr/>
          <p:nvPr/>
        </p:nvSpPr>
        <p:spPr>
          <a:xfrm>
            <a:off x="1051560" y="321876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Diseño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1"/>
          <p:cNvSpPr/>
          <p:nvPr/>
        </p:nvSpPr>
        <p:spPr>
          <a:xfrm>
            <a:off x="621720" y="3703320"/>
            <a:ext cx="233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Cristal oscuro soplado y etiqueta de pergamino con relieve dorado.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2"/>
          <p:cNvSpPr/>
          <p:nvPr/>
        </p:nvSpPr>
        <p:spPr>
          <a:xfrm>
            <a:off x="3246120" y="3063240"/>
            <a:ext cx="2651040" cy="1508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3"/>
          <p:cNvSpPr/>
          <p:nvPr/>
        </p:nvSpPr>
        <p:spPr>
          <a:xfrm>
            <a:off x="3410640" y="3218760"/>
            <a:ext cx="328320" cy="3283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4"/>
          <p:cNvSpPr/>
          <p:nvPr/>
        </p:nvSpPr>
        <p:spPr>
          <a:xfrm>
            <a:off x="3410640" y="32187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5"/>
          <p:cNvSpPr/>
          <p:nvPr/>
        </p:nvSpPr>
        <p:spPr>
          <a:xfrm>
            <a:off x="3840480" y="321876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Origen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6"/>
          <p:cNvSpPr/>
          <p:nvPr/>
        </p:nvSpPr>
        <p:spPr>
          <a:xfrm>
            <a:off x="3410640" y="3703320"/>
            <a:ext cx="233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Uvas de Lara y región andina, con técnicas de estándar internacional.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27"/>
          <p:cNvSpPr/>
          <p:nvPr/>
        </p:nvSpPr>
        <p:spPr>
          <a:xfrm>
            <a:off x="6035040" y="3063240"/>
            <a:ext cx="2651040" cy="15080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28"/>
          <p:cNvSpPr/>
          <p:nvPr/>
        </p:nvSpPr>
        <p:spPr>
          <a:xfrm>
            <a:off x="6199560" y="3218760"/>
            <a:ext cx="328320" cy="3283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9"/>
          <p:cNvSpPr/>
          <p:nvPr/>
        </p:nvSpPr>
        <p:spPr>
          <a:xfrm>
            <a:off x="6199560" y="3218760"/>
            <a:ext cx="3283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0"/>
          <p:cNvSpPr/>
          <p:nvPr/>
        </p:nvSpPr>
        <p:spPr>
          <a:xfrm>
            <a:off x="6629400" y="3218760"/>
            <a:ext cx="191952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Posicionamiento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1"/>
          <p:cNvSpPr/>
          <p:nvPr/>
        </p:nvSpPr>
        <p:spPr>
          <a:xfrm>
            <a:off x="6199560" y="3703320"/>
            <a:ext cx="233100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Maestría de Hennessy VS, hasta 30% más accesible y con talento venezolano.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sldNum" idx="7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6D9D9B0C-7991-4E33-BF84-F9448984328D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MATRIZ DE RENTABILIDAD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Qué, quién, dónde, cómo y por qué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4" name="Table 0"/>
          <p:cNvGraphicFramePr/>
          <p:nvPr/>
        </p:nvGraphicFramePr>
        <p:xfrm>
          <a:off x="457200" y="1417320"/>
          <a:ext cx="5120280" cy="2833200"/>
        </p:xfrm>
        <a:graphic>
          <a:graphicData uri="http://schemas.openxmlformats.org/drawingml/2006/table">
            <a:tbl>
              <a:tblPr/>
              <a:tblGrid>
                <a:gridCol w="1097280"/>
                <a:gridCol w="4023360"/>
              </a:tblGrid>
              <a:tr h="56664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C9A84C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Qué</a:t>
                      </a:r>
                      <a:endParaRPr lang="es-A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8E0D0"/>
                          </a:solidFill>
                          <a:effectLst/>
                          <a:uFillTx/>
                          <a:latin typeface="Calibri"/>
                        </a:rPr>
                        <a:t>Coñac premium venezolano</a:t>
                      </a:r>
                      <a:endParaRPr lang="es-A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</a:tr>
              <a:tr h="56664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C9A84C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A quién</a:t>
                      </a:r>
                      <a:endParaRPr lang="es-A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8E0D0"/>
                          </a:solidFill>
                          <a:effectLst/>
                          <a:uFillTx/>
                          <a:latin typeface="Calibri"/>
                        </a:rPr>
                        <a:t>Adultos 28-60 años y canal corporativo</a:t>
                      </a:r>
                      <a:endParaRPr lang="es-A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</a:tr>
              <a:tr h="56664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C9A84C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Dónde</a:t>
                      </a:r>
                      <a:endParaRPr lang="es-A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8E0D0"/>
                          </a:solidFill>
                          <a:effectLst/>
                          <a:uFillTx/>
                          <a:latin typeface="Calibri"/>
                        </a:rPr>
                        <a:t>Venezuela, Argentina, España y EE.UU.</a:t>
                      </a:r>
                      <a:endParaRPr lang="es-A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</a:tr>
              <a:tr h="56664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C9A84C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Cómo</a:t>
                      </a:r>
                      <a:endParaRPr lang="es-A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8E0D0"/>
                          </a:solidFill>
                          <a:effectLst/>
                          <a:uFillTx/>
                          <a:latin typeface="Calibri"/>
                        </a:rPr>
                        <a:t>E-commerce, RRSS y distribuidores</a:t>
                      </a:r>
                      <a:endParaRPr lang="es-A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</a:tr>
              <a:tr h="566640"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C9A84C"/>
                          </a:solidFill>
                          <a:effectLst/>
                          <a:uFillTx/>
                          <a:latin typeface="Cambria"/>
                          <a:ea typeface="Cambria"/>
                        </a:rPr>
                        <a:t>Por qué</a:t>
                      </a:r>
                      <a:endParaRPr lang="es-A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 lIns="109440" tIns="0" rIns="109440" bIns="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E8E0D0"/>
                          </a:solidFill>
                          <a:effectLst/>
                          <a:uFillTx/>
                          <a:latin typeface="Calibri"/>
                        </a:rPr>
                        <a:t>Exclusividad e identidad venezolana</a:t>
                      </a:r>
                      <a:endParaRPr lang="es-AR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9440" marR="109440" marT="0" marB="0">
                    <a:lnL w="9360">
                      <a:solidFill>
                        <a:srgbClr val="8B6914"/>
                      </a:solidFill>
                      <a:prstDash val="solid"/>
                    </a:lnL>
                    <a:lnR w="9360">
                      <a:solidFill>
                        <a:srgbClr val="8B6914"/>
                      </a:solidFill>
                      <a:prstDash val="solid"/>
                    </a:lnR>
                    <a:lnT w="9360">
                      <a:solidFill>
                        <a:srgbClr val="8B6914"/>
                      </a:solidFill>
                      <a:prstDash val="solid"/>
                    </a:lnT>
                    <a:lnB w="9360">
                      <a:solidFill>
                        <a:srgbClr val="8B6914"/>
                      </a:solidFill>
                      <a:prstDash val="soli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65" name="Shape 2"/>
          <p:cNvSpPr/>
          <p:nvPr/>
        </p:nvSpPr>
        <p:spPr>
          <a:xfrm>
            <a:off x="5852160" y="1417320"/>
            <a:ext cx="1370880" cy="146232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5852160" y="1691640"/>
            <a:ext cx="1370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$55K</a:t>
            </a:r>
            <a:endParaRPr lang="es-A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4"/>
          <p:cNvSpPr/>
          <p:nvPr/>
        </p:nvSpPr>
        <p:spPr>
          <a:xfrm>
            <a:off x="5943600" y="233172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Inversión inicial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5"/>
          <p:cNvSpPr/>
          <p:nvPr/>
        </p:nvSpPr>
        <p:spPr>
          <a:xfrm>
            <a:off x="7315200" y="1417320"/>
            <a:ext cx="1370880" cy="146232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6"/>
          <p:cNvSpPr/>
          <p:nvPr/>
        </p:nvSpPr>
        <p:spPr>
          <a:xfrm>
            <a:off x="7315200" y="1691640"/>
            <a:ext cx="1370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$38</a:t>
            </a:r>
            <a:endParaRPr lang="es-A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7406640" y="233172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Precio por botella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8"/>
          <p:cNvSpPr/>
          <p:nvPr/>
        </p:nvSpPr>
        <p:spPr>
          <a:xfrm>
            <a:off x="5852160" y="2971800"/>
            <a:ext cx="1370880" cy="146232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9"/>
          <p:cNvSpPr/>
          <p:nvPr/>
        </p:nvSpPr>
        <p:spPr>
          <a:xfrm>
            <a:off x="5852160" y="3246120"/>
            <a:ext cx="1370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Año 2</a:t>
            </a:r>
            <a:endParaRPr lang="es-A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5943600" y="388620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Punto de equilibrio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1"/>
          <p:cNvSpPr/>
          <p:nvPr/>
        </p:nvSpPr>
        <p:spPr>
          <a:xfrm>
            <a:off x="7315200" y="2971800"/>
            <a:ext cx="1370880" cy="146232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7315200" y="3246120"/>
            <a:ext cx="1370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$40K</a:t>
            </a:r>
            <a:endParaRPr lang="es-AR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3"/>
          <p:cNvSpPr/>
          <p:nvPr/>
        </p:nvSpPr>
        <p:spPr>
          <a:xfrm>
            <a:off x="7406640" y="3886200"/>
            <a:ext cx="11880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99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EBITDA año 5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sldNum" idx="8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0797E4D-CAC3-46A2-A315-28B203BEE7E1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PILARES DE CONTENIDO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Cinco ejes de comunicación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"/>
          <p:cNvSpPr/>
          <p:nvPr/>
        </p:nvSpPr>
        <p:spPr>
          <a:xfrm>
            <a:off x="457200" y="1463040"/>
            <a:ext cx="1553760" cy="29253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457200" y="1645920"/>
            <a:ext cx="1553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s-A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4"/>
          <p:cNvSpPr/>
          <p:nvPr/>
        </p:nvSpPr>
        <p:spPr>
          <a:xfrm>
            <a:off x="594360" y="2560320"/>
            <a:ext cx="1279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Elegancia y Exclusividad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594360" y="3383280"/>
            <a:ext cx="12794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Ediciones limitadas y numeradas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6"/>
          <p:cNvSpPr/>
          <p:nvPr/>
        </p:nvSpPr>
        <p:spPr>
          <a:xfrm>
            <a:off x="2126160" y="1463040"/>
            <a:ext cx="1553760" cy="29253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2126160" y="1645920"/>
            <a:ext cx="1553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s-A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2263320" y="2560320"/>
            <a:ext cx="1279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Autenticidad Venezolana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2263320" y="3383280"/>
            <a:ext cx="12794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Talento y raíces nacionales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3794760" y="1463040"/>
            <a:ext cx="1553760" cy="29253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3794760" y="1645920"/>
            <a:ext cx="1553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s-A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3931920" y="2560320"/>
            <a:ext cx="1279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Experiencia Sensorial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3"/>
          <p:cNvSpPr/>
          <p:nvPr/>
        </p:nvSpPr>
        <p:spPr>
          <a:xfrm>
            <a:off x="3931920" y="3383280"/>
            <a:ext cx="12794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Proceso y notas de cata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4"/>
          <p:cNvSpPr/>
          <p:nvPr/>
        </p:nvSpPr>
        <p:spPr>
          <a:xfrm>
            <a:off x="5463720" y="1463040"/>
            <a:ext cx="1553760" cy="29253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5"/>
          <p:cNvSpPr/>
          <p:nvPr/>
        </p:nvSpPr>
        <p:spPr>
          <a:xfrm>
            <a:off x="5463720" y="1645920"/>
            <a:ext cx="1553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s-A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6"/>
          <p:cNvSpPr/>
          <p:nvPr/>
        </p:nvSpPr>
        <p:spPr>
          <a:xfrm>
            <a:off x="5600880" y="2560320"/>
            <a:ext cx="1279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Lifestyle Premium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7"/>
          <p:cNvSpPr/>
          <p:nvPr/>
        </p:nvSpPr>
        <p:spPr>
          <a:xfrm>
            <a:off x="5600880" y="3383280"/>
            <a:ext cx="12794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Maridaje y packaging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8"/>
          <p:cNvSpPr/>
          <p:nvPr/>
        </p:nvSpPr>
        <p:spPr>
          <a:xfrm>
            <a:off x="7132320" y="1463040"/>
            <a:ext cx="1553760" cy="292536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9"/>
          <p:cNvSpPr/>
          <p:nvPr/>
        </p:nvSpPr>
        <p:spPr>
          <a:xfrm>
            <a:off x="7132320" y="1645920"/>
            <a:ext cx="155376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05</a:t>
            </a:r>
            <a:endParaRPr lang="es-A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0"/>
          <p:cNvSpPr/>
          <p:nvPr/>
        </p:nvSpPr>
        <p:spPr>
          <a:xfrm>
            <a:off x="7269480" y="2560320"/>
            <a:ext cx="12794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Comunidad y Autoridad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1"/>
          <p:cNvSpPr/>
          <p:nvPr/>
        </p:nvSpPr>
        <p:spPr>
          <a:xfrm>
            <a:off x="7269480" y="3383280"/>
            <a:ext cx="12794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Q&amp;A, trivia y testimonios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1"/>
          <p:cNvSpPr>
            <a:spLocks noGrp="1"/>
          </p:cNvSpPr>
          <p:nvPr>
            <p:ph type="sldNum" idx="9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E114D36-158D-4341-87B6-BA2FFDEC48C3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CALENDARIO · SEMANA 1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Planificación semana 1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45720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45720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LUN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4"/>
          <p:cNvSpPr/>
          <p:nvPr/>
        </p:nvSpPr>
        <p:spPr>
          <a:xfrm>
            <a:off x="93276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54864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Marca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164592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164592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MAR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8"/>
          <p:cNvSpPr/>
          <p:nvPr/>
        </p:nvSpPr>
        <p:spPr>
          <a:xfrm>
            <a:off x="212148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173736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Story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0"/>
          <p:cNvSpPr/>
          <p:nvPr/>
        </p:nvSpPr>
        <p:spPr>
          <a:xfrm>
            <a:off x="283464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283464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MIÉ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12"/>
          <p:cNvSpPr/>
          <p:nvPr/>
        </p:nvSpPr>
        <p:spPr>
          <a:xfrm>
            <a:off x="331020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292608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Reel proceso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402336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402336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JUE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6"/>
          <p:cNvSpPr/>
          <p:nvPr/>
        </p:nvSpPr>
        <p:spPr>
          <a:xfrm>
            <a:off x="449892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411480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Carrusel historia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8"/>
          <p:cNvSpPr/>
          <p:nvPr/>
        </p:nvSpPr>
        <p:spPr>
          <a:xfrm>
            <a:off x="521208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9"/>
          <p:cNvSpPr/>
          <p:nvPr/>
        </p:nvSpPr>
        <p:spPr>
          <a:xfrm>
            <a:off x="521208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VIE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20"/>
          <p:cNvSpPr/>
          <p:nvPr/>
        </p:nvSpPr>
        <p:spPr>
          <a:xfrm>
            <a:off x="568764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530352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Notas de cata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2"/>
          <p:cNvSpPr/>
          <p:nvPr/>
        </p:nvSpPr>
        <p:spPr>
          <a:xfrm>
            <a:off x="640080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640080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SÁB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4"/>
          <p:cNvSpPr/>
          <p:nvPr/>
        </p:nvSpPr>
        <p:spPr>
          <a:xfrm>
            <a:off x="687636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25"/>
          <p:cNvSpPr/>
          <p:nvPr/>
        </p:nvSpPr>
        <p:spPr>
          <a:xfrm>
            <a:off x="649224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Lifestyle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26"/>
          <p:cNvSpPr/>
          <p:nvPr/>
        </p:nvSpPr>
        <p:spPr>
          <a:xfrm>
            <a:off x="758952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7"/>
          <p:cNvSpPr/>
          <p:nvPr/>
        </p:nvSpPr>
        <p:spPr>
          <a:xfrm>
            <a:off x="758952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DOM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8"/>
          <p:cNvSpPr/>
          <p:nvPr/>
        </p:nvSpPr>
        <p:spPr>
          <a:xfrm>
            <a:off x="806508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9"/>
          <p:cNvSpPr/>
          <p:nvPr/>
        </p:nvSpPr>
        <p:spPr>
          <a:xfrm>
            <a:off x="768096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Q&amp;A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0"/>
          <p:cNvSpPr/>
          <p:nvPr/>
        </p:nvSpPr>
        <p:spPr>
          <a:xfrm>
            <a:off x="457200" y="40233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Una publicación diaria · Instagram y LinkedIn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1"/>
          <p:cNvSpPr>
            <a:spLocks noGrp="1"/>
          </p:cNvSpPr>
          <p:nvPr>
            <p:ph type="sldNum" idx="10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BF3A6C58-0D34-4B24-BD4B-CFBCE9BA55D1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CALENDARIO · SEMANA 2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Planificación semana 2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"/>
          <p:cNvSpPr/>
          <p:nvPr/>
        </p:nvSpPr>
        <p:spPr>
          <a:xfrm>
            <a:off x="45720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45720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LUN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93276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54864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Diferenciales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6"/>
          <p:cNvSpPr/>
          <p:nvPr/>
        </p:nvSpPr>
        <p:spPr>
          <a:xfrm>
            <a:off x="164592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164592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MAR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8"/>
          <p:cNvSpPr/>
          <p:nvPr/>
        </p:nvSpPr>
        <p:spPr>
          <a:xfrm>
            <a:off x="212148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173736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Trivia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0"/>
          <p:cNvSpPr/>
          <p:nvPr/>
        </p:nvSpPr>
        <p:spPr>
          <a:xfrm>
            <a:off x="283464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1"/>
          <p:cNvSpPr/>
          <p:nvPr/>
        </p:nvSpPr>
        <p:spPr>
          <a:xfrm>
            <a:off x="283464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MIÉ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2"/>
          <p:cNvSpPr/>
          <p:nvPr/>
        </p:nvSpPr>
        <p:spPr>
          <a:xfrm>
            <a:off x="331020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3"/>
          <p:cNvSpPr/>
          <p:nvPr/>
        </p:nvSpPr>
        <p:spPr>
          <a:xfrm>
            <a:off x="292608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Carrusel degustación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4"/>
          <p:cNvSpPr/>
          <p:nvPr/>
        </p:nvSpPr>
        <p:spPr>
          <a:xfrm>
            <a:off x="402336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5"/>
          <p:cNvSpPr/>
          <p:nvPr/>
        </p:nvSpPr>
        <p:spPr>
          <a:xfrm>
            <a:off x="402336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JUE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6"/>
          <p:cNvSpPr/>
          <p:nvPr/>
        </p:nvSpPr>
        <p:spPr>
          <a:xfrm>
            <a:off x="449892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7"/>
          <p:cNvSpPr/>
          <p:nvPr/>
        </p:nvSpPr>
        <p:spPr>
          <a:xfrm>
            <a:off x="411480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Reserva 24 años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8"/>
          <p:cNvSpPr/>
          <p:nvPr/>
        </p:nvSpPr>
        <p:spPr>
          <a:xfrm>
            <a:off x="521208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9"/>
          <p:cNvSpPr/>
          <p:nvPr/>
        </p:nvSpPr>
        <p:spPr>
          <a:xfrm>
            <a:off x="521208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VIE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0"/>
          <p:cNvSpPr/>
          <p:nvPr/>
        </p:nvSpPr>
        <p:spPr>
          <a:xfrm>
            <a:off x="568764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21"/>
          <p:cNvSpPr/>
          <p:nvPr/>
        </p:nvSpPr>
        <p:spPr>
          <a:xfrm>
            <a:off x="530352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Maridaje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2"/>
          <p:cNvSpPr/>
          <p:nvPr/>
        </p:nvSpPr>
        <p:spPr>
          <a:xfrm>
            <a:off x="640080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3"/>
          <p:cNvSpPr/>
          <p:nvPr/>
        </p:nvSpPr>
        <p:spPr>
          <a:xfrm>
            <a:off x="640080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SÁB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4"/>
          <p:cNvSpPr/>
          <p:nvPr/>
        </p:nvSpPr>
        <p:spPr>
          <a:xfrm>
            <a:off x="687636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5"/>
          <p:cNvSpPr/>
          <p:nvPr/>
        </p:nvSpPr>
        <p:spPr>
          <a:xfrm>
            <a:off x="649224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Packaging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6"/>
          <p:cNvSpPr/>
          <p:nvPr/>
        </p:nvSpPr>
        <p:spPr>
          <a:xfrm>
            <a:off x="7589520" y="1554480"/>
            <a:ext cx="1096560" cy="219384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7"/>
          <p:cNvSpPr/>
          <p:nvPr/>
        </p:nvSpPr>
        <p:spPr>
          <a:xfrm>
            <a:off x="7589520" y="1737360"/>
            <a:ext cx="109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DOM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8"/>
          <p:cNvSpPr/>
          <p:nvPr/>
        </p:nvSpPr>
        <p:spPr>
          <a:xfrm>
            <a:off x="8065080" y="2148840"/>
            <a:ext cx="145440" cy="145440"/>
          </a:xfrm>
          <a:prstGeom prst="ellipse">
            <a:avLst/>
          </a:prstGeom>
          <a:solidFill>
            <a:srgbClr val="C9A84C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9"/>
          <p:cNvSpPr/>
          <p:nvPr/>
        </p:nvSpPr>
        <p:spPr>
          <a:xfrm>
            <a:off x="7680960" y="2468880"/>
            <a:ext cx="913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Testimonios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0"/>
          <p:cNvSpPr/>
          <p:nvPr/>
        </p:nvSpPr>
        <p:spPr>
          <a:xfrm>
            <a:off x="457200" y="402336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Una publicación diaria · Instagram y LinkedIn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1"/>
          <p:cNvSpPr>
            <a:spLocks noGrp="1"/>
          </p:cNvSpPr>
          <p:nvPr>
            <p:ph type="sldNum" idx="11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CE47741-94C0-4729-970C-CB5A4E1CEFB5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MOCKUP · FLYER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Concepto del flyer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457200" y="1463040"/>
            <a:ext cx="4114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CONCEPTO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457200" y="171900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Negro mate con detalles dorados metálicos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"/>
          <p:cNvSpPr/>
          <p:nvPr/>
        </p:nvSpPr>
        <p:spPr>
          <a:xfrm>
            <a:off x="457200" y="2240280"/>
            <a:ext cx="4114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PROTAGONISTAS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"/>
          <p:cNvSpPr/>
          <p:nvPr/>
        </p:nvSpPr>
        <p:spPr>
          <a:xfrm>
            <a:off x="457200" y="249624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Reserva Azul 24 años y Reserva Clásica 12 años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6"/>
          <p:cNvSpPr/>
          <p:nvPr/>
        </p:nvSpPr>
        <p:spPr>
          <a:xfrm>
            <a:off x="457200" y="3017520"/>
            <a:ext cx="4114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MENSAJE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7"/>
          <p:cNvSpPr/>
          <p:nvPr/>
        </p:nvSpPr>
        <p:spPr>
          <a:xfrm>
            <a:off x="457200" y="327348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Edición limitada y numerada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457200" y="3794760"/>
            <a:ext cx="41140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CTA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9"/>
          <p:cNvSpPr/>
          <p:nvPr/>
        </p:nvSpPr>
        <p:spPr>
          <a:xfrm>
            <a:off x="457200" y="4050720"/>
            <a:ext cx="41140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Consultar disponibilidad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1"/>
          <p:cNvSpPr>
            <a:spLocks noGrp="1"/>
          </p:cNvSpPr>
          <p:nvPr>
            <p:ph type="sldNum" idx="12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802F0DB-82D8-4D13-AFD0-AB003D994074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76" name=""/>
          <p:cNvPicPr/>
          <p:nvPr/>
        </p:nvPicPr>
        <p:blipFill>
          <a:blip r:embed="rId1"/>
          <a:stretch/>
        </p:blipFill>
        <p:spPr>
          <a:xfrm>
            <a:off x="5068440" y="365760"/>
            <a:ext cx="3391200" cy="4242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MOCKUP · CARRUSEL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Carrusel de Instagram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2"/>
          <p:cNvSpPr/>
          <p:nvPr/>
        </p:nvSpPr>
        <p:spPr>
          <a:xfrm>
            <a:off x="457200" y="1463040"/>
            <a:ext cx="1279440" cy="2468160"/>
          </a:xfrm>
          <a:prstGeom prst="rect">
            <a:avLst/>
          </a:prstGeom>
          <a:solidFill>
            <a:srgbClr val="120E05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548640" y="1572840"/>
            <a:ext cx="1096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1 / 6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548640" y="2286000"/>
            <a:ext cx="1096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Portada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5"/>
          <p:cNvSpPr/>
          <p:nvPr/>
        </p:nvSpPr>
        <p:spPr>
          <a:xfrm>
            <a:off x="567000" y="2926080"/>
            <a:ext cx="1059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Noble Cognac y tagline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1847160" y="1463040"/>
            <a:ext cx="1279440" cy="246816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7"/>
          <p:cNvSpPr/>
          <p:nvPr/>
        </p:nvSpPr>
        <p:spPr>
          <a:xfrm>
            <a:off x="1938600" y="1572840"/>
            <a:ext cx="1096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2 / 6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8"/>
          <p:cNvSpPr/>
          <p:nvPr/>
        </p:nvSpPr>
        <p:spPr>
          <a:xfrm>
            <a:off x="1938600" y="2286000"/>
            <a:ext cx="1096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Problema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9"/>
          <p:cNvSpPr/>
          <p:nvPr/>
        </p:nvSpPr>
        <p:spPr>
          <a:xfrm>
            <a:off x="1956960" y="2926080"/>
            <a:ext cx="1059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Sin coñac premium nacional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0"/>
          <p:cNvSpPr/>
          <p:nvPr/>
        </p:nvSpPr>
        <p:spPr>
          <a:xfrm>
            <a:off x="3237120" y="1463040"/>
            <a:ext cx="1279440" cy="2468160"/>
          </a:xfrm>
          <a:prstGeom prst="rect">
            <a:avLst/>
          </a:prstGeom>
          <a:solidFill>
            <a:srgbClr val="120E05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3328560" y="1572840"/>
            <a:ext cx="1096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3 / 6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3328560" y="2286000"/>
            <a:ext cx="1096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Solución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3"/>
          <p:cNvSpPr/>
          <p:nvPr/>
        </p:nvSpPr>
        <p:spPr>
          <a:xfrm>
            <a:off x="3346560" y="2926080"/>
            <a:ext cx="1059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Coñac venezolano artesanal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4"/>
          <p:cNvSpPr/>
          <p:nvPr/>
        </p:nvSpPr>
        <p:spPr>
          <a:xfrm>
            <a:off x="4626720" y="1463040"/>
            <a:ext cx="1279440" cy="246816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5"/>
          <p:cNvSpPr/>
          <p:nvPr/>
        </p:nvSpPr>
        <p:spPr>
          <a:xfrm>
            <a:off x="4718160" y="1572840"/>
            <a:ext cx="1096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4 / 6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6"/>
          <p:cNvSpPr/>
          <p:nvPr/>
        </p:nvSpPr>
        <p:spPr>
          <a:xfrm>
            <a:off x="4718160" y="2286000"/>
            <a:ext cx="1096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Diferenciales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7"/>
          <p:cNvSpPr/>
          <p:nvPr/>
        </p:nvSpPr>
        <p:spPr>
          <a:xfrm>
            <a:off x="4736520" y="2926080"/>
            <a:ext cx="1059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Lotes numerados y roble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18"/>
          <p:cNvSpPr/>
          <p:nvPr/>
        </p:nvSpPr>
        <p:spPr>
          <a:xfrm>
            <a:off x="6016680" y="1463040"/>
            <a:ext cx="1279440" cy="2468160"/>
          </a:xfrm>
          <a:prstGeom prst="rect">
            <a:avLst/>
          </a:prstGeom>
          <a:solidFill>
            <a:srgbClr val="120E05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9"/>
          <p:cNvSpPr/>
          <p:nvPr/>
        </p:nvSpPr>
        <p:spPr>
          <a:xfrm>
            <a:off x="6108120" y="1572840"/>
            <a:ext cx="1096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5 / 6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0"/>
          <p:cNvSpPr/>
          <p:nvPr/>
        </p:nvSpPr>
        <p:spPr>
          <a:xfrm>
            <a:off x="6108120" y="2286000"/>
            <a:ext cx="1096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Notas de cata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21"/>
          <p:cNvSpPr/>
          <p:nvPr/>
        </p:nvSpPr>
        <p:spPr>
          <a:xfrm>
            <a:off x="6126480" y="2926080"/>
            <a:ext cx="1059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Vainilla, caramelo y madera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22"/>
          <p:cNvSpPr/>
          <p:nvPr/>
        </p:nvSpPr>
        <p:spPr>
          <a:xfrm>
            <a:off x="7406640" y="1463040"/>
            <a:ext cx="1279440" cy="2468160"/>
          </a:xfrm>
          <a:prstGeom prst="rect">
            <a:avLst/>
          </a:prstGeom>
          <a:solidFill>
            <a:srgbClr val="1A1A1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3"/>
          <p:cNvSpPr/>
          <p:nvPr/>
        </p:nvSpPr>
        <p:spPr>
          <a:xfrm>
            <a:off x="7498080" y="1572840"/>
            <a:ext cx="10965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6 / 6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4"/>
          <p:cNvSpPr/>
          <p:nvPr/>
        </p:nvSpPr>
        <p:spPr>
          <a:xfrm>
            <a:off x="7498080" y="2286000"/>
            <a:ext cx="10965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CTA</a:t>
            </a:r>
            <a:endParaRPr lang="es-A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5"/>
          <p:cNvSpPr/>
          <p:nvPr/>
        </p:nvSpPr>
        <p:spPr>
          <a:xfrm>
            <a:off x="7516440" y="2926080"/>
            <a:ext cx="105984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Escríbenos · Delivery 24 h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6"/>
          <p:cNvSpPr/>
          <p:nvPr/>
        </p:nvSpPr>
        <p:spPr>
          <a:xfrm>
            <a:off x="457200" y="4160520"/>
            <a:ext cx="8228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Formato 4:5 · desliza para ver la historia de marca →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sldNum" idx="13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C5F349B-B6EB-4D76-8FB3-E6C625C743BF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OPTIMIZACIÓN DE PERFIL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Instagram y Facebook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548640" y="1371600"/>
            <a:ext cx="2742480" cy="329112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"/>
          <p:cNvSpPr/>
          <p:nvPr/>
        </p:nvSpPr>
        <p:spPr>
          <a:xfrm>
            <a:off x="822960" y="1600200"/>
            <a:ext cx="730800" cy="730800"/>
          </a:xfrm>
          <a:prstGeom prst="ellipse">
            <a:avLst/>
          </a:prstGeom>
          <a:solidFill>
            <a:srgbClr val="120E05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822960" y="160020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NC</a:t>
            </a:r>
            <a:endParaRPr lang="es-A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1691640" y="169164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Noble Cognac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1691640" y="1965960"/>
            <a:ext cx="146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Coñac premium venezolano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7"/>
          <p:cNvSpPr/>
          <p:nvPr/>
        </p:nvSpPr>
        <p:spPr>
          <a:xfrm>
            <a:off x="822960" y="2560320"/>
            <a:ext cx="2193840" cy="82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Pequeños lotes numerados</a:t>
            </a:r>
            <a:endParaRPr lang="es-A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Delivery en Maracay · &lt;24 h</a:t>
            </a:r>
            <a:endParaRPr lang="es-A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Cotizaciones corporativas</a:t>
            </a:r>
            <a:endParaRPr lang="es-A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8"/>
          <p:cNvSpPr/>
          <p:nvPr/>
        </p:nvSpPr>
        <p:spPr>
          <a:xfrm>
            <a:off x="777240" y="3611880"/>
            <a:ext cx="438120" cy="4381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685800" y="4114800"/>
            <a:ext cx="621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Marca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0"/>
          <p:cNvSpPr/>
          <p:nvPr/>
        </p:nvSpPr>
        <p:spPr>
          <a:xfrm>
            <a:off x="1398960" y="3611880"/>
            <a:ext cx="438120" cy="4381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1"/>
          <p:cNvSpPr/>
          <p:nvPr/>
        </p:nvSpPr>
        <p:spPr>
          <a:xfrm>
            <a:off x="1307520" y="4114800"/>
            <a:ext cx="621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Proceso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2"/>
          <p:cNvSpPr/>
          <p:nvPr/>
        </p:nvSpPr>
        <p:spPr>
          <a:xfrm>
            <a:off x="2020680" y="3611880"/>
            <a:ext cx="438120" cy="4381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1929240" y="4114800"/>
            <a:ext cx="621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Cata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4"/>
          <p:cNvSpPr/>
          <p:nvPr/>
        </p:nvSpPr>
        <p:spPr>
          <a:xfrm>
            <a:off x="2642760" y="3611880"/>
            <a:ext cx="438120" cy="438120"/>
          </a:xfrm>
          <a:prstGeom prst="ellipse">
            <a:avLst/>
          </a:prstGeom>
          <a:solidFill>
            <a:srgbClr val="0A0A0A"/>
          </a:solidFill>
          <a:ln w="9525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5"/>
          <p:cNvSpPr/>
          <p:nvPr/>
        </p:nvSpPr>
        <p:spPr>
          <a:xfrm>
            <a:off x="2551320" y="4114800"/>
            <a:ext cx="62100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Reservas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6"/>
          <p:cNvSpPr/>
          <p:nvPr/>
        </p:nvSpPr>
        <p:spPr>
          <a:xfrm>
            <a:off x="3749040" y="1371600"/>
            <a:ext cx="4937040" cy="5662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3931920" y="137160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Bio premium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5394960" y="1371600"/>
            <a:ext cx="3199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Propuesta de valor en tres líneas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9"/>
          <p:cNvSpPr/>
          <p:nvPr/>
        </p:nvSpPr>
        <p:spPr>
          <a:xfrm>
            <a:off x="3749040" y="2030040"/>
            <a:ext cx="4937040" cy="5662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0"/>
          <p:cNvSpPr/>
          <p:nvPr/>
        </p:nvSpPr>
        <p:spPr>
          <a:xfrm>
            <a:off x="3931920" y="203004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Destacadas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21"/>
          <p:cNvSpPr/>
          <p:nvPr/>
        </p:nvSpPr>
        <p:spPr>
          <a:xfrm>
            <a:off x="5394960" y="2030040"/>
            <a:ext cx="3199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Marca, proceso, notas de cata y reservas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2"/>
          <p:cNvSpPr/>
          <p:nvPr/>
        </p:nvSpPr>
        <p:spPr>
          <a:xfrm>
            <a:off x="3749040" y="2688480"/>
            <a:ext cx="4937040" cy="5662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3931920" y="268848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CTA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4"/>
          <p:cNvSpPr/>
          <p:nvPr/>
        </p:nvSpPr>
        <p:spPr>
          <a:xfrm>
            <a:off x="5394960" y="2688480"/>
            <a:ext cx="3199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Consultar disponibilidad y cotizaciones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25"/>
          <p:cNvSpPr/>
          <p:nvPr/>
        </p:nvSpPr>
        <p:spPr>
          <a:xfrm>
            <a:off x="3749040" y="3346560"/>
            <a:ext cx="4937040" cy="5662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6"/>
          <p:cNvSpPr/>
          <p:nvPr/>
        </p:nvSpPr>
        <p:spPr>
          <a:xfrm>
            <a:off x="3931920" y="334656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Link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7"/>
          <p:cNvSpPr/>
          <p:nvPr/>
        </p:nvSpPr>
        <p:spPr>
          <a:xfrm>
            <a:off x="5394960" y="3346560"/>
            <a:ext cx="3199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Enlace único a tienda o WhatsApp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28"/>
          <p:cNvSpPr/>
          <p:nvPr/>
        </p:nvSpPr>
        <p:spPr>
          <a:xfrm>
            <a:off x="3749040" y="4005000"/>
            <a:ext cx="4937040" cy="56628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9"/>
          <p:cNvSpPr/>
          <p:nvPr/>
        </p:nvSpPr>
        <p:spPr>
          <a:xfrm>
            <a:off x="3931920" y="4005000"/>
            <a:ext cx="1462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Palabras clave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30"/>
          <p:cNvSpPr/>
          <p:nvPr/>
        </p:nvSpPr>
        <p:spPr>
          <a:xfrm>
            <a:off x="5394960" y="4005000"/>
            <a:ext cx="31996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Coñac venezolano, premium, artesanal</a:t>
            </a:r>
            <a:endParaRPr lang="es-AR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1"/>
          <p:cNvSpPr>
            <a:spLocks noGrp="1"/>
          </p:cNvSpPr>
          <p:nvPr>
            <p:ph type="sldNum" idx="14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C24B46AB-A767-4E48-A251-5219E7A9EB10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 0"/>
          <p:cNvSpPr/>
          <p:nvPr/>
        </p:nvSpPr>
        <p:spPr>
          <a:xfrm>
            <a:off x="457200" y="36576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RESULTADOS ESPERADOS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"/>
          <p:cNvSpPr/>
          <p:nvPr/>
        </p:nvSpPr>
        <p:spPr>
          <a:xfrm>
            <a:off x="457200" y="640080"/>
            <a:ext cx="82288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Objetivos de marca y crecimiento</a:t>
            </a:r>
            <a:endParaRPr lang="es-A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9" name="Chart 0"/>
          <p:cNvGraphicFramePr/>
          <p:nvPr/>
        </p:nvGraphicFramePr>
        <p:xfrm>
          <a:off x="457200" y="1371600"/>
          <a:ext cx="4937040" cy="3199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0" name="Shape 2"/>
          <p:cNvSpPr/>
          <p:nvPr/>
        </p:nvSpPr>
        <p:spPr>
          <a:xfrm>
            <a:off x="5669280" y="1371600"/>
            <a:ext cx="3016800" cy="9594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3"/>
          <p:cNvSpPr/>
          <p:nvPr/>
        </p:nvSpPr>
        <p:spPr>
          <a:xfrm>
            <a:off x="5806440" y="1481400"/>
            <a:ext cx="2742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Año 2</a:t>
            </a:r>
            <a:endParaRPr lang="es-A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4"/>
          <p:cNvSpPr/>
          <p:nvPr/>
        </p:nvSpPr>
        <p:spPr>
          <a:xfrm>
            <a:off x="5806440" y="19386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Punto de equilibrio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5"/>
          <p:cNvSpPr/>
          <p:nvPr/>
        </p:nvSpPr>
        <p:spPr>
          <a:xfrm>
            <a:off x="5669280" y="2468880"/>
            <a:ext cx="3016800" cy="9594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6"/>
          <p:cNvSpPr/>
          <p:nvPr/>
        </p:nvSpPr>
        <p:spPr>
          <a:xfrm>
            <a:off x="5806440" y="2578680"/>
            <a:ext cx="2742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40 · 35 · 25 %</a:t>
            </a:r>
            <a:endParaRPr lang="es-A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7"/>
          <p:cNvSpPr/>
          <p:nvPr/>
        </p:nvSpPr>
        <p:spPr>
          <a:xfrm>
            <a:off x="5806440" y="303588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Digital · Corporativo · Exportación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8"/>
          <p:cNvSpPr/>
          <p:nvPr/>
        </p:nvSpPr>
        <p:spPr>
          <a:xfrm>
            <a:off x="5669280" y="3566160"/>
            <a:ext cx="3016800" cy="9594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9"/>
          <p:cNvSpPr/>
          <p:nvPr/>
        </p:nvSpPr>
        <p:spPr>
          <a:xfrm>
            <a:off x="5806440" y="3675960"/>
            <a:ext cx="274248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2028</a:t>
            </a:r>
            <a:endParaRPr lang="es-A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0"/>
          <p:cNvSpPr/>
          <p:nvPr/>
        </p:nvSpPr>
        <p:spPr>
          <a:xfrm>
            <a:off x="5806440" y="413316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Marca referente premium en Venezuela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1"/>
          <p:cNvSpPr>
            <a:spLocks noGrp="1"/>
          </p:cNvSpPr>
          <p:nvPr>
            <p:ph type="sldNum" idx="15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67281BE-7FC3-4C2F-AA85-3CAE113B7344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0"/>
          <p:cNvSpPr/>
          <p:nvPr/>
        </p:nvSpPr>
        <p:spPr>
          <a:xfrm>
            <a:off x="4206240" y="502920"/>
            <a:ext cx="730800" cy="730800"/>
          </a:xfrm>
          <a:prstGeom prst="ellipse">
            <a:avLst/>
          </a:prstGeom>
          <a:solidFill>
            <a:srgbClr val="120E05"/>
          </a:solidFill>
          <a:ln w="12700">
            <a:solidFill>
              <a:srgbClr val="C9A84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"/>
          <p:cNvSpPr/>
          <p:nvPr/>
        </p:nvSpPr>
        <p:spPr>
          <a:xfrm>
            <a:off x="4206240" y="502920"/>
            <a:ext cx="73080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NC</a:t>
            </a:r>
            <a:endParaRPr lang="es-A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"/>
          <p:cNvSpPr/>
          <p:nvPr/>
        </p:nvSpPr>
        <p:spPr>
          <a:xfrm>
            <a:off x="2011680" y="1463040"/>
            <a:ext cx="511992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i="1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El lujo artesanal no se produce en masa.</a:t>
            </a:r>
            <a:endParaRPr lang="es-AR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"/>
          <p:cNvSpPr/>
          <p:nvPr/>
        </p:nvSpPr>
        <p:spPr>
          <a:xfrm>
            <a:off x="2011680" y="2651760"/>
            <a:ext cx="51199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Nuestras partidas son limitadas y numeradas.</a:t>
            </a:r>
            <a:endParaRPr lang="es-A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4"/>
          <p:cNvSpPr/>
          <p:nvPr/>
        </p:nvSpPr>
        <p:spPr>
          <a:xfrm>
            <a:off x="2011680" y="3383280"/>
            <a:ext cx="51199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Delivery directo en Maracay · Entrega en menos de 24 horas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Cotizaciones corporativas disponibles</a:t>
            </a:r>
            <a:endParaRPr lang="es-A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5"/>
          <p:cNvSpPr/>
          <p:nvPr/>
        </p:nvSpPr>
        <p:spPr>
          <a:xfrm>
            <a:off x="2011680" y="4206240"/>
            <a:ext cx="5119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ELEGANCIA CON RAÍCES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1"/>
          <p:cNvSpPr>
            <a:spLocks noGrp="1"/>
          </p:cNvSpPr>
          <p:nvPr>
            <p:ph type="sldNum" idx="16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3A066767-772F-4932-B857-6E692E0F3894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257" name=""/>
          <p:cNvPicPr/>
          <p:nvPr/>
        </p:nvPicPr>
        <p:blipFill>
          <a:blip r:embed="rId1"/>
          <a:stretch/>
        </p:blipFill>
        <p:spPr>
          <a:xfrm rot="13800">
            <a:off x="184320" y="2163960"/>
            <a:ext cx="2009520" cy="269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"/>
          <p:cNvPicPr/>
          <p:nvPr/>
        </p:nvPicPr>
        <p:blipFill>
          <a:blip r:embed="rId2"/>
          <a:stretch/>
        </p:blipFill>
        <p:spPr>
          <a:xfrm rot="21594000">
            <a:off x="6909120" y="2341800"/>
            <a:ext cx="2021400" cy="2707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tiqueta 101"/>
          <p:cNvSpPr txBox="1"/>
          <p:nvPr/>
        </p:nvSpPr>
        <p:spPr>
          <a:xfrm>
            <a:off x="457200" y="365760"/>
            <a:ext cx="8229600" cy="227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DIAGNÓSTICO ACTUAL · MÉTRICAS</a:t>
            </a:r>
          </a:p>
        </p:txBody>
      </p:sp>
      <p:sp>
        <p:nvSpPr>
          <p:cNvPr id="102" name="Titulo 102"/>
          <p:cNvSpPr txBox="1"/>
          <p:nvPr/>
        </p:nvSpPr>
        <p:spPr>
          <a:xfrm>
            <a:off x="457200" y="640080"/>
            <a:ext cx="8229600" cy="547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Instagram y Facebook hoy</a:t>
            </a:r>
          </a:p>
        </p:txBody>
      </p:sp>
      <p:sp>
        <p:nvSpPr>
          <p:cNvPr id="103" name="Red 103"/>
          <p:cNvSpPr txBox="1"/>
          <p:nvPr/>
        </p:nvSpPr>
        <p:spPr>
          <a:xfrm>
            <a:off x="457200" y="1417320"/>
            <a:ext cx="40233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0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INSTAGRAM · @NOBLECOGNAC</a:t>
            </a:r>
          </a:p>
        </p:txBody>
      </p:sp>
      <p:sp>
        <p:nvSpPr>
          <p:cNvPr id="104" name="Card 104"/>
          <p:cNvSpPr/>
          <p:nvPr/>
        </p:nvSpPr>
        <p:spPr>
          <a:xfrm>
            <a:off x="457200" y="1717320"/>
            <a:ext cx="1965960" cy="110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05" name="Cifra 105"/>
          <p:cNvSpPr txBox="1"/>
          <p:nvPr/>
        </p:nvSpPr>
        <p:spPr>
          <a:xfrm>
            <a:off x="457200" y="1837320"/>
            <a:ext cx="1965960" cy="5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30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6</a:t>
            </a:r>
          </a:p>
        </p:txBody>
      </p:sp>
      <p:sp>
        <p:nvSpPr>
          <p:cNvPr id="106" name="Etiqueta 106"/>
          <p:cNvSpPr txBox="1"/>
          <p:nvPr/>
        </p:nvSpPr>
        <p:spPr>
          <a:xfrm>
            <a:off x="548640" y="2437320"/>
            <a:ext cx="1783080" cy="3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1000" b="1" u="none" spc="60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Publicaciones</a:t>
            </a:r>
          </a:p>
        </p:txBody>
      </p:sp>
      <p:sp>
        <p:nvSpPr>
          <p:cNvPr id="107" name="Card 107"/>
          <p:cNvSpPr/>
          <p:nvPr/>
        </p:nvSpPr>
        <p:spPr>
          <a:xfrm>
            <a:off x="2514600" y="1717320"/>
            <a:ext cx="1965960" cy="110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08" name="Cifra 108"/>
          <p:cNvSpPr txBox="1"/>
          <p:nvPr/>
        </p:nvSpPr>
        <p:spPr>
          <a:xfrm>
            <a:off x="2514600" y="1837320"/>
            <a:ext cx="1965960" cy="5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30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5</a:t>
            </a:r>
          </a:p>
        </p:txBody>
      </p:sp>
      <p:sp>
        <p:nvSpPr>
          <p:cNvPr id="109" name="Etiqueta 109"/>
          <p:cNvSpPr txBox="1"/>
          <p:nvPr/>
        </p:nvSpPr>
        <p:spPr>
          <a:xfrm>
            <a:off x="2606040" y="2437320"/>
            <a:ext cx="1783080" cy="3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1000" b="1" u="none" spc="60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Seguidores</a:t>
            </a:r>
          </a:p>
        </p:txBody>
      </p:sp>
      <p:sp>
        <p:nvSpPr>
          <p:cNvPr id="110" name="Card 110"/>
          <p:cNvSpPr/>
          <p:nvPr/>
        </p:nvSpPr>
        <p:spPr>
          <a:xfrm>
            <a:off x="457200" y="2908760"/>
            <a:ext cx="1965960" cy="110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11" name="Cifra 111"/>
          <p:cNvSpPr txBox="1"/>
          <p:nvPr/>
        </p:nvSpPr>
        <p:spPr>
          <a:xfrm>
            <a:off x="457200" y="3028760"/>
            <a:ext cx="1965960" cy="5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30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7</a:t>
            </a:r>
          </a:p>
        </p:txBody>
      </p:sp>
      <p:sp>
        <p:nvSpPr>
          <p:cNvPr id="112" name="Etiqueta 112"/>
          <p:cNvSpPr txBox="1"/>
          <p:nvPr/>
        </p:nvSpPr>
        <p:spPr>
          <a:xfrm>
            <a:off x="548640" y="3628760"/>
            <a:ext cx="1783080" cy="3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1000" b="1" u="none" spc="60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Seguidos</a:t>
            </a:r>
          </a:p>
        </p:txBody>
      </p:sp>
      <p:sp>
        <p:nvSpPr>
          <p:cNvPr id="113" name="Card 113"/>
          <p:cNvSpPr/>
          <p:nvPr/>
        </p:nvSpPr>
        <p:spPr>
          <a:xfrm>
            <a:off x="2514600" y="2908760"/>
            <a:ext cx="1965960" cy="110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14" name="Cifra 114"/>
          <p:cNvSpPr txBox="1"/>
          <p:nvPr/>
        </p:nvSpPr>
        <p:spPr>
          <a:xfrm>
            <a:off x="2514600" y="3028760"/>
            <a:ext cx="1965960" cy="5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30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1 · 0</a:t>
            </a:r>
          </a:p>
        </p:txBody>
      </p:sp>
      <p:sp>
        <p:nvSpPr>
          <p:cNvPr id="115" name="Etiqueta 115"/>
          <p:cNvSpPr txBox="1"/>
          <p:nvPr/>
        </p:nvSpPr>
        <p:spPr>
          <a:xfrm>
            <a:off x="2606040" y="3628760"/>
            <a:ext cx="1783080" cy="3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1000" b="1" u="none" spc="60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Me gusta · comentarios (publicación del logo)</a:t>
            </a:r>
          </a:p>
        </p:txBody>
      </p:sp>
      <p:sp>
        <p:nvSpPr>
          <p:cNvPr id="116" name="Red 116"/>
          <p:cNvSpPr txBox="1"/>
          <p:nvPr/>
        </p:nvSpPr>
        <p:spPr>
          <a:xfrm>
            <a:off x="4663440" y="1417320"/>
            <a:ext cx="402336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0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FACEBOOK · PERFIL NOBLE COGNAC</a:t>
            </a:r>
          </a:p>
        </p:txBody>
      </p:sp>
      <p:sp>
        <p:nvSpPr>
          <p:cNvPr id="117" name="Card 117"/>
          <p:cNvSpPr/>
          <p:nvPr/>
        </p:nvSpPr>
        <p:spPr>
          <a:xfrm>
            <a:off x="4663440" y="1717320"/>
            <a:ext cx="1965960" cy="110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18" name="Cifra 118"/>
          <p:cNvSpPr txBox="1"/>
          <p:nvPr/>
        </p:nvSpPr>
        <p:spPr>
          <a:xfrm>
            <a:off x="4663440" y="1837320"/>
            <a:ext cx="1965960" cy="5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30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12</a:t>
            </a:r>
          </a:p>
        </p:txBody>
      </p:sp>
      <p:sp>
        <p:nvSpPr>
          <p:cNvPr id="119" name="Etiqueta 119"/>
          <p:cNvSpPr txBox="1"/>
          <p:nvPr/>
        </p:nvSpPr>
        <p:spPr>
          <a:xfrm>
            <a:off x="4754880" y="2437320"/>
            <a:ext cx="1783080" cy="3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1000" b="1" u="none" spc="60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Amigos</a:t>
            </a:r>
          </a:p>
        </p:txBody>
      </p:sp>
      <p:sp>
        <p:nvSpPr>
          <p:cNvPr id="120" name="Card 120"/>
          <p:cNvSpPr/>
          <p:nvPr/>
        </p:nvSpPr>
        <p:spPr>
          <a:xfrm>
            <a:off x="6720840" y="1717320"/>
            <a:ext cx="1965960" cy="110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21" name="Cifra 121"/>
          <p:cNvSpPr txBox="1"/>
          <p:nvPr/>
        </p:nvSpPr>
        <p:spPr>
          <a:xfrm>
            <a:off x="6720840" y="1837320"/>
            <a:ext cx="1965960" cy="5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30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1–3</a:t>
            </a:r>
          </a:p>
        </p:txBody>
      </p:sp>
      <p:sp>
        <p:nvSpPr>
          <p:cNvPr id="122" name="Etiqueta 122"/>
          <p:cNvSpPr txBox="1"/>
          <p:nvPr/>
        </p:nvSpPr>
        <p:spPr>
          <a:xfrm>
            <a:off x="6812280" y="2437320"/>
            <a:ext cx="1783080" cy="3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1000" b="1" u="none" spc="60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Reacciones por publicación</a:t>
            </a:r>
          </a:p>
        </p:txBody>
      </p:sp>
      <p:sp>
        <p:nvSpPr>
          <p:cNvPr id="123" name="Card 123"/>
          <p:cNvSpPr/>
          <p:nvPr/>
        </p:nvSpPr>
        <p:spPr>
          <a:xfrm>
            <a:off x="4663440" y="2908760"/>
            <a:ext cx="1965960" cy="110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24" name="Cifra 124"/>
          <p:cNvSpPr txBox="1"/>
          <p:nvPr/>
        </p:nvSpPr>
        <p:spPr>
          <a:xfrm>
            <a:off x="4663440" y="3028760"/>
            <a:ext cx="1965960" cy="5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30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0</a:t>
            </a:r>
          </a:p>
        </p:txBody>
      </p:sp>
      <p:sp>
        <p:nvSpPr>
          <p:cNvPr id="125" name="Etiqueta 125"/>
          <p:cNvSpPr txBox="1"/>
          <p:nvPr/>
        </p:nvSpPr>
        <p:spPr>
          <a:xfrm>
            <a:off x="4754880" y="3628760"/>
            <a:ext cx="1783080" cy="3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1000" b="1" u="none" spc="60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Comentarios y compartidos visibles</a:t>
            </a:r>
          </a:p>
        </p:txBody>
      </p:sp>
      <p:sp>
        <p:nvSpPr>
          <p:cNvPr id="126" name="Card 126"/>
          <p:cNvSpPr/>
          <p:nvPr/>
        </p:nvSpPr>
        <p:spPr>
          <a:xfrm>
            <a:off x="6720840" y="2908760"/>
            <a:ext cx="1965960" cy="110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27" name="Cifra 127"/>
          <p:cNvSpPr txBox="1"/>
          <p:nvPr/>
        </p:nvSpPr>
        <p:spPr>
          <a:xfrm>
            <a:off x="6720840" y="3028760"/>
            <a:ext cx="1965960" cy="56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30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0</a:t>
            </a:r>
          </a:p>
        </p:txBody>
      </p:sp>
      <p:sp>
        <p:nvSpPr>
          <p:cNvPr id="128" name="Etiqueta 128"/>
          <p:cNvSpPr txBox="1"/>
          <p:nvPr/>
        </p:nvSpPr>
        <p:spPr>
          <a:xfrm>
            <a:off x="6812280" y="3628760"/>
            <a:ext cx="1783080" cy="34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s-AR" sz="1000" b="1" u="none" spc="60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Historias destacadas</a:t>
            </a:r>
          </a:p>
        </p:txBody>
      </p:sp>
      <p:sp>
        <p:nvSpPr>
          <p:cNvPr id="129" name="Nota 129"/>
          <p:cNvSpPr txBox="1"/>
          <p:nvPr/>
        </p:nvSpPr>
        <p:spPr>
          <a:xfrm>
            <a:off x="457200" y="4290000"/>
            <a:ext cx="8229600" cy="33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000" b="0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Datos al 7 de octubre de 2026, tomados de las capturas de ambas cuentas. Facebook es un perfil personal y no ofrece estadísticas (Insights); las cifras son las visibles públicamente.</a:t>
            </a:r>
          </a:p>
        </p:txBody>
      </p:sp>
      <p:sp>
        <p:nvSpPr>
          <p:cNvPr id="130" name="PlaceHolder 1"/>
          <p:cNvSpPr>
            <a:spLocks noGrp="1"/>
          </p:cNvSpPr>
          <p:nvPr>
            <p:ph type="sldNum" idx="8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0797E4D-CAC3-46A2-A315-28B203BEE7E1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Etiqueta 131"/>
          <p:cNvSpPr txBox="1"/>
          <p:nvPr/>
        </p:nvSpPr>
        <p:spPr>
          <a:xfrm>
            <a:off x="457200" y="365760"/>
            <a:ext cx="8229600" cy="227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LECTURA DE MÉTRICAS</a:t>
            </a:r>
          </a:p>
        </p:txBody>
      </p:sp>
      <p:sp>
        <p:nvSpPr>
          <p:cNvPr id="132" name="Titulo 132"/>
          <p:cNvSpPr txBox="1"/>
          <p:nvPr/>
        </p:nvSpPr>
        <p:spPr>
          <a:xfrm>
            <a:off x="457200" y="640080"/>
            <a:ext cx="8229600" cy="547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Qué nos dicen los números</a:t>
            </a:r>
          </a:p>
        </p:txBody>
      </p:sp>
      <p:sp>
        <p:nvSpPr>
          <p:cNvPr id="133" name="Columna 133"/>
          <p:cNvSpPr txBox="1"/>
          <p:nvPr/>
        </p:nvSpPr>
        <p:spPr>
          <a:xfrm>
            <a:off x="548640" y="1400000"/>
            <a:ext cx="1408560" cy="2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9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INDICADOR</a:t>
            </a:r>
          </a:p>
        </p:txBody>
      </p:sp>
      <p:sp>
        <p:nvSpPr>
          <p:cNvPr id="134" name="Columna 134"/>
          <p:cNvSpPr txBox="1"/>
          <p:nvPr/>
        </p:nvSpPr>
        <p:spPr>
          <a:xfrm>
            <a:off x="2148840" y="1400000"/>
            <a:ext cx="2558560" cy="2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9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DATO</a:t>
            </a:r>
          </a:p>
        </p:txBody>
      </p:sp>
      <p:sp>
        <p:nvSpPr>
          <p:cNvPr id="135" name="Columna 135"/>
          <p:cNvSpPr txBox="1"/>
          <p:nvPr/>
        </p:nvSpPr>
        <p:spPr>
          <a:xfrm>
            <a:off x="4898440" y="1400000"/>
            <a:ext cx="3788360" cy="2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900" b="1" u="none" spc="300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LECTURA</a:t>
            </a:r>
          </a:p>
        </p:txBody>
      </p:sp>
      <p:sp>
        <p:nvSpPr>
          <p:cNvPr id="136" name="Fila 136"/>
          <p:cNvSpPr/>
          <p:nvPr/>
        </p:nvSpPr>
        <p:spPr>
          <a:xfrm>
            <a:off x="457200" y="1640000"/>
            <a:ext cx="8229600" cy="52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37" name="Indicador 137"/>
          <p:cNvSpPr txBox="1"/>
          <p:nvPr/>
        </p:nvSpPr>
        <p:spPr>
          <a:xfrm>
            <a:off x="548640" y="1640000"/>
            <a:ext cx="140856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3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Alcance</a:t>
            </a:r>
          </a:p>
        </p:txBody>
      </p:sp>
      <p:sp>
        <p:nvSpPr>
          <p:cNvPr id="138" name="Dato 138"/>
          <p:cNvSpPr txBox="1"/>
          <p:nvPr/>
        </p:nvSpPr>
        <p:spPr>
          <a:xfrm>
            <a:off x="2148840" y="1640000"/>
            <a:ext cx="246712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100" b="0" u="none" strike="noStrike">
                <a:solidFill>
                  <a:srgbClr val="E8C97A"/>
                </a:solidFill>
                <a:effectLst/>
                <a:uFillTx/>
                <a:latin typeface="Calibri"/>
                <a:ea typeface="Calibri"/>
              </a:rPr>
              <a:t>Facebook: 12 amigos · Instagram: 5 seguidores</a:t>
            </a:r>
          </a:p>
        </p:txBody>
      </p:sp>
      <p:sp>
        <p:nvSpPr>
          <p:cNvPr id="139" name="Lectura 139"/>
          <p:cNvSpPr txBox="1"/>
          <p:nvPr/>
        </p:nvSpPr>
        <p:spPr>
          <a:xfrm>
            <a:off x="4898440" y="1640000"/>
            <a:ext cx="369692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1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Audiencia semilla: todavía no hay público fuera del círculo cercano.</a:t>
            </a:r>
          </a:p>
        </p:txBody>
      </p:sp>
      <p:sp>
        <p:nvSpPr>
          <p:cNvPr id="140" name="Fila 140"/>
          <p:cNvSpPr/>
          <p:nvPr/>
        </p:nvSpPr>
        <p:spPr>
          <a:xfrm>
            <a:off x="457200" y="2210000"/>
            <a:ext cx="8229600" cy="52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41" name="Indicador 141"/>
          <p:cNvSpPr txBox="1"/>
          <p:nvPr/>
        </p:nvSpPr>
        <p:spPr>
          <a:xfrm>
            <a:off x="548640" y="2210000"/>
            <a:ext cx="140856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3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Interacción</a:t>
            </a:r>
          </a:p>
        </p:txBody>
      </p:sp>
      <p:sp>
        <p:nvSpPr>
          <p:cNvPr id="142" name="Dato 142"/>
          <p:cNvSpPr txBox="1"/>
          <p:nvPr/>
        </p:nvSpPr>
        <p:spPr>
          <a:xfrm>
            <a:off x="2148840" y="2210000"/>
            <a:ext cx="246712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100" b="0" u="none" strike="noStrike">
                <a:solidFill>
                  <a:srgbClr val="E8C97A"/>
                </a:solidFill>
                <a:effectLst/>
                <a:uFillTx/>
                <a:latin typeface="Calibri"/>
                <a:ea typeface="Calibri"/>
              </a:rPr>
              <a:t>1 a 3 reacciones por publicación · 0 comentarios</a:t>
            </a:r>
          </a:p>
        </p:txBody>
      </p:sp>
      <p:sp>
        <p:nvSpPr>
          <p:cNvPr id="143" name="Lectura 143"/>
          <p:cNvSpPr txBox="1"/>
          <p:nvPr/>
        </p:nvSpPr>
        <p:spPr>
          <a:xfrm>
            <a:off x="4898440" y="2210000"/>
            <a:ext cx="369692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1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Hasta 3 de 12 amigos reaccionan (25%), pero aún no hay conversación.</a:t>
            </a:r>
          </a:p>
        </p:txBody>
      </p:sp>
      <p:sp>
        <p:nvSpPr>
          <p:cNvPr id="144" name="Fila 144"/>
          <p:cNvSpPr/>
          <p:nvPr/>
        </p:nvSpPr>
        <p:spPr>
          <a:xfrm>
            <a:off x="457200" y="2780000"/>
            <a:ext cx="8229600" cy="52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45" name="Indicador 145"/>
          <p:cNvSpPr txBox="1"/>
          <p:nvPr/>
        </p:nvSpPr>
        <p:spPr>
          <a:xfrm>
            <a:off x="548640" y="2780000"/>
            <a:ext cx="140856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3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Constancia</a:t>
            </a:r>
          </a:p>
        </p:txBody>
      </p:sp>
      <p:sp>
        <p:nvSpPr>
          <p:cNvPr id="146" name="Dato 146"/>
          <p:cNvSpPr txBox="1"/>
          <p:nvPr/>
        </p:nvSpPr>
        <p:spPr>
          <a:xfrm>
            <a:off x="2148840" y="2780000"/>
            <a:ext cx="246712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100" b="0" u="none" strike="noStrike">
                <a:solidFill>
                  <a:srgbClr val="E8C97A"/>
                </a:solidFill>
                <a:effectLst/>
                <a:uFillTx/>
                <a:latin typeface="Calibri"/>
                <a:ea typeface="Calibri"/>
              </a:rPr>
              <a:t>Todo el contenido de Facebook salió el 2 de octubre</a:t>
            </a:r>
          </a:p>
        </p:txBody>
      </p:sp>
      <p:sp>
        <p:nvSpPr>
          <p:cNvPr id="147" name="Lectura 147"/>
          <p:cNvSpPr txBox="1"/>
          <p:nvPr/>
        </p:nvSpPr>
        <p:spPr>
          <a:xfrm>
            <a:off x="4898440" y="2780000"/>
            <a:ext cx="369692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1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Sin ritmo de publicación: faltan piezas nuevas desde esa fecha.</a:t>
            </a:r>
          </a:p>
        </p:txBody>
      </p:sp>
      <p:sp>
        <p:nvSpPr>
          <p:cNvPr id="148" name="Fila 148"/>
          <p:cNvSpPr/>
          <p:nvPr/>
        </p:nvSpPr>
        <p:spPr>
          <a:xfrm>
            <a:off x="457200" y="3350000"/>
            <a:ext cx="8229600" cy="52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49" name="Indicador 149"/>
          <p:cNvSpPr txBox="1"/>
          <p:nvPr/>
        </p:nvSpPr>
        <p:spPr>
          <a:xfrm>
            <a:off x="548640" y="3350000"/>
            <a:ext cx="140856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3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Formato</a:t>
            </a:r>
          </a:p>
        </p:txBody>
      </p:sp>
      <p:sp>
        <p:nvSpPr>
          <p:cNvPr id="150" name="Dato 150"/>
          <p:cNvSpPr txBox="1"/>
          <p:nvPr/>
        </p:nvSpPr>
        <p:spPr>
          <a:xfrm>
            <a:off x="2148840" y="3350000"/>
            <a:ext cx="246712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100" b="0" u="none" strike="noStrike">
                <a:solidFill>
                  <a:srgbClr val="E8C97A"/>
                </a:solidFill>
                <a:effectLst/>
                <a:uFillTx/>
                <a:latin typeface="Calibri"/>
                <a:ea typeface="Calibri"/>
              </a:rPr>
              <a:t>Sommelier y botella de 12 años: 3 reacciones · video y portadas: 1</a:t>
            </a:r>
          </a:p>
        </p:txBody>
      </p:sp>
      <p:sp>
        <p:nvSpPr>
          <p:cNvPr id="151" name="Lectura 151"/>
          <p:cNvSpPr txBox="1"/>
          <p:nvPr/>
        </p:nvSpPr>
        <p:spPr>
          <a:xfrm>
            <a:off x="4898440" y="3350000"/>
            <a:ext cx="369692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1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Las personas y el ambiente de barrica conectan más que el diseño gráfico.</a:t>
            </a:r>
          </a:p>
        </p:txBody>
      </p:sp>
      <p:sp>
        <p:nvSpPr>
          <p:cNvPr id="152" name="Fila 152"/>
          <p:cNvSpPr/>
          <p:nvPr/>
        </p:nvSpPr>
        <p:spPr>
          <a:xfrm>
            <a:off x="457200" y="3920000"/>
            <a:ext cx="8229600" cy="52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53" name="Indicador 153"/>
          <p:cNvSpPr txBox="1"/>
          <p:nvPr/>
        </p:nvSpPr>
        <p:spPr>
          <a:xfrm>
            <a:off x="548640" y="3920000"/>
            <a:ext cx="140856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300" b="1" u="none" strike="noStrike">
                <a:solidFill>
                  <a:srgbClr val="C9A84C"/>
                </a:solidFill>
                <a:effectLst/>
                <a:uFillTx/>
                <a:latin typeface="Cambria"/>
                <a:ea typeface="Cambria"/>
              </a:rPr>
              <a:t>Medición</a:t>
            </a:r>
          </a:p>
        </p:txBody>
      </p:sp>
      <p:sp>
        <p:nvSpPr>
          <p:cNvPr id="154" name="Dato 154"/>
          <p:cNvSpPr txBox="1"/>
          <p:nvPr/>
        </p:nvSpPr>
        <p:spPr>
          <a:xfrm>
            <a:off x="2148840" y="3920000"/>
            <a:ext cx="246712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100" b="0" u="none" strike="noStrike">
                <a:solidFill>
                  <a:srgbClr val="E8C97A"/>
                </a:solidFill>
                <a:effectLst/>
                <a:uFillTx/>
                <a:latin typeface="Calibri"/>
                <a:ea typeface="Calibri"/>
              </a:rPr>
              <a:t>Facebook como perfil personal, sin Insights</a:t>
            </a:r>
          </a:p>
        </p:txBody>
      </p:sp>
      <p:sp>
        <p:nvSpPr>
          <p:cNvPr id="155" name="Lectura 155"/>
          <p:cNvSpPr txBox="1"/>
          <p:nvPr/>
        </p:nvSpPr>
        <p:spPr>
          <a:xfrm>
            <a:off x="4898440" y="3920000"/>
            <a:ext cx="3696920" cy="52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1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Sin Página profesional no se puede medir alcance ni audiencia real.</a:t>
            </a:r>
          </a:p>
        </p:txBody>
      </p:sp>
      <p:sp>
        <p:nvSpPr>
          <p:cNvPr id="156" name="PlaceHolder 1"/>
          <p:cNvSpPr>
            <a:spLocks noGrp="1"/>
          </p:cNvSpPr>
          <p:nvPr>
            <p:ph type="sldNum" idx="8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0797E4D-CAC3-46A2-A315-28B203BEE7E1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Etiqueta 157"/>
          <p:cNvSpPr txBox="1"/>
          <p:nvPr/>
        </p:nvSpPr>
        <p:spPr>
          <a:xfrm>
            <a:off x="457200" y="365760"/>
            <a:ext cx="8229600" cy="2278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000" b="1" u="none" spc="499" strike="noStrike">
                <a:solidFill>
                  <a:srgbClr val="C9A84C"/>
                </a:solidFill>
                <a:effectLst/>
                <a:uFillTx/>
                <a:latin typeface="Calibri"/>
                <a:ea typeface="Calibri"/>
              </a:rPr>
              <a:t>DIAGNÓSTICO · SIGUIENTES PASOS</a:t>
            </a:r>
          </a:p>
        </p:txBody>
      </p:sp>
      <p:sp>
        <p:nvSpPr>
          <p:cNvPr id="158" name="Titulo 158"/>
          <p:cNvSpPr txBox="1"/>
          <p:nvPr/>
        </p:nvSpPr>
        <p:spPr>
          <a:xfrm>
            <a:off x="457200" y="640080"/>
            <a:ext cx="8229600" cy="547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3000" b="0" u="none" strike="noStrike">
                <a:solidFill>
                  <a:srgbClr val="E8E0D0"/>
                </a:solidFill>
                <a:effectLst/>
                <a:uFillTx/>
                <a:latin typeface="Cambria"/>
                <a:ea typeface="Cambria"/>
              </a:rPr>
              <a:t>Fortalezas, debilidades y acciones</a:t>
            </a:r>
          </a:p>
        </p:txBody>
      </p:sp>
      <p:sp>
        <p:nvSpPr>
          <p:cNvPr id="159" name="Panel 159"/>
          <p:cNvSpPr/>
          <p:nvPr/>
        </p:nvSpPr>
        <p:spPr>
          <a:xfrm>
            <a:off x="457200" y="1417320"/>
            <a:ext cx="2651760" cy="250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60" name="Columna 160"/>
          <p:cNvSpPr txBox="1"/>
          <p:nvPr/>
        </p:nvSpPr>
        <p:spPr>
          <a:xfrm>
            <a:off x="594360" y="1530000"/>
            <a:ext cx="2377440" cy="3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Fortalezas</a:t>
            </a:r>
          </a:p>
        </p:txBody>
      </p:sp>
      <p:sp>
        <p:nvSpPr>
          <p:cNvPr id="161" name="Puntos 161"/>
          <p:cNvSpPr txBox="1"/>
          <p:nvPr/>
        </p:nvSpPr>
        <p:spPr>
          <a:xfrm>
            <a:off x="594360" y="1930000"/>
            <a:ext cx="2377440" cy="195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l" marL="171450" indent="-171450">
              <a:lnSpc>
                <a:spcPct val="100000"/>
              </a:lnSpc>
              <a:spcAft>
                <a:spcPts val="700"/>
              </a:spcAft>
              <a:buClr>
                <a:srgbClr val="C9A84C"/>
              </a:buClr>
              <a:buFont typeface="Arial"/>
              <a:buChar char="•"/>
            </a:pPr>
            <a:r>
              <a:rPr lang="es-AR" sz="12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Identidad visual coherente en negro y dorado</a:t>
            </a:r>
          </a:p>
          <a:p>
            <a:pPr algn="l" marL="171450" indent="-171450">
              <a:lnSpc>
                <a:spcPct val="100000"/>
              </a:lnSpc>
              <a:spcAft>
                <a:spcPts val="700"/>
              </a:spcAft>
              <a:buClr>
                <a:srgbClr val="C9A84C"/>
              </a:buClr>
              <a:buFont typeface="Arial"/>
              <a:buChar char="•"/>
            </a:pPr>
            <a:r>
              <a:rPr lang="es-AR" sz="12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Eslogan claro y repetido en ambas redes</a:t>
            </a:r>
          </a:p>
          <a:p>
            <a:pPr algn="l" marL="171450" indent="-171450">
              <a:lnSpc>
                <a:spcPct val="100000"/>
              </a:lnSpc>
              <a:spcAft>
                <a:spcPts val="700"/>
              </a:spcAft>
              <a:buClr>
                <a:srgbClr val="C9A84C"/>
              </a:buClr>
              <a:buFont typeface="Arial"/>
              <a:buChar char="•"/>
            </a:pPr>
            <a:r>
              <a:rPr lang="es-AR" sz="12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Mejor respuesta con personas y ambiente de barrica</a:t>
            </a:r>
          </a:p>
          <a:p>
            <a:pPr algn="l" marL="171450" indent="-171450">
              <a:lnSpc>
                <a:spcPct val="100000"/>
              </a:lnSpc>
              <a:spcAft>
                <a:spcPts val="700"/>
              </a:spcAft>
              <a:buClr>
                <a:srgbClr val="C9A84C"/>
              </a:buClr>
              <a:buFont typeface="Arial"/>
              <a:buChar char="•"/>
            </a:pPr>
            <a:r>
              <a:rPr lang="es-AR" sz="12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Transparencia: perfil marcado con contenido de IA</a:t>
            </a:r>
          </a:p>
        </p:txBody>
      </p:sp>
      <p:sp>
        <p:nvSpPr>
          <p:cNvPr id="162" name="Panel 162"/>
          <p:cNvSpPr/>
          <p:nvPr/>
        </p:nvSpPr>
        <p:spPr>
          <a:xfrm>
            <a:off x="3246120" y="1417320"/>
            <a:ext cx="2651760" cy="250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63" name="Columna 163"/>
          <p:cNvSpPr txBox="1"/>
          <p:nvPr/>
        </p:nvSpPr>
        <p:spPr>
          <a:xfrm>
            <a:off x="3383280" y="1530000"/>
            <a:ext cx="2377440" cy="3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Debilidades</a:t>
            </a:r>
          </a:p>
        </p:txBody>
      </p:sp>
      <p:sp>
        <p:nvSpPr>
          <p:cNvPr id="164" name="Puntos 164"/>
          <p:cNvSpPr txBox="1"/>
          <p:nvPr/>
        </p:nvSpPr>
        <p:spPr>
          <a:xfrm>
            <a:off x="3383280" y="1930000"/>
            <a:ext cx="2377440" cy="195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l" marL="171450" indent="-171450">
              <a:lnSpc>
                <a:spcPct val="100000"/>
              </a:lnSpc>
              <a:spcAft>
                <a:spcPts val="700"/>
              </a:spcAft>
              <a:buClr>
                <a:srgbClr val="C9A84C"/>
              </a:buClr>
              <a:buFont typeface="Arial"/>
              <a:buChar char="•"/>
            </a:pPr>
            <a:r>
              <a:rPr lang="es-AR" sz="12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Audiencia mínima: 12 amigos y 5 seguidores</a:t>
            </a:r>
          </a:p>
          <a:p>
            <a:pPr algn="l" marL="171450" indent="-171450">
              <a:lnSpc>
                <a:spcPct val="100000"/>
              </a:lnSpc>
              <a:spcAft>
                <a:spcPts val="700"/>
              </a:spcAft>
              <a:buClr>
                <a:srgbClr val="C9A84C"/>
              </a:buClr>
              <a:buFont typeface="Arial"/>
              <a:buChar char="•"/>
            </a:pPr>
            <a:r>
              <a:rPr lang="es-AR" sz="12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Facebook como perfil personal: sin métricas ni anuncios</a:t>
            </a:r>
          </a:p>
          <a:p>
            <a:pPr algn="l" marL="171450" indent="-171450">
              <a:lnSpc>
                <a:spcPct val="100000"/>
              </a:lnSpc>
              <a:spcAft>
                <a:spcPts val="700"/>
              </a:spcAft>
              <a:buClr>
                <a:srgbClr val="C9A84C"/>
              </a:buClr>
              <a:buFont typeface="Arial"/>
              <a:buChar char="•"/>
            </a:pPr>
            <a:r>
              <a:rPr lang="es-AR" sz="12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Cero comentarios y Destacados vacío en Facebook</a:t>
            </a:r>
          </a:p>
          <a:p>
            <a:pPr algn="l" marL="171450" indent="-171450">
              <a:lnSpc>
                <a:spcPct val="100000"/>
              </a:lnSpc>
              <a:spcAft>
                <a:spcPts val="700"/>
              </a:spcAft>
              <a:buClr>
                <a:srgbClr val="C9A84C"/>
              </a:buClr>
              <a:buFont typeface="Arial"/>
              <a:buChar char="•"/>
            </a:pPr>
            <a:r>
              <a:rPr lang="es-AR" sz="12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Sin frecuencia de publicación definida</a:t>
            </a:r>
          </a:p>
        </p:txBody>
      </p:sp>
      <p:sp>
        <p:nvSpPr>
          <p:cNvPr id="165" name="Panel 165"/>
          <p:cNvSpPr/>
          <p:nvPr/>
        </p:nvSpPr>
        <p:spPr>
          <a:xfrm>
            <a:off x="6035040" y="1417320"/>
            <a:ext cx="2651760" cy="2500000"/>
          </a:xfrm>
          <a:prstGeom prst="rect">
            <a:avLst/>
          </a:prstGeom>
          <a:solidFill>
            <a:srgbClr val="1A1A1A"/>
          </a:solidFill>
          <a:ln w="9525">
            <a:solidFill>
              <a:srgbClr val="8B6914"/>
            </a:solidFill>
            <a:round/>
          </a:ln>
        </p:spPr>
        <p:txBody>
          <a:bodyPr/>
          <a:p>
            <a:endParaRPr lang="es-AR"/>
          </a:p>
        </p:txBody>
      </p:sp>
      <p:sp>
        <p:nvSpPr>
          <p:cNvPr id="166" name="Columna 166"/>
          <p:cNvSpPr txBox="1"/>
          <p:nvPr/>
        </p:nvSpPr>
        <p:spPr>
          <a:xfrm>
            <a:off x="6172200" y="1530000"/>
            <a:ext cx="2377440" cy="30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600" b="0" u="none" strike="noStrike">
                <a:solidFill>
                  <a:srgbClr val="E8C97A"/>
                </a:solidFill>
                <a:effectLst/>
                <a:uFillTx/>
                <a:latin typeface="Cambria"/>
                <a:ea typeface="Cambria"/>
              </a:rPr>
              <a:t>Acciones</a:t>
            </a:r>
          </a:p>
        </p:txBody>
      </p:sp>
      <p:sp>
        <p:nvSpPr>
          <p:cNvPr id="167" name="Puntos 167"/>
          <p:cNvSpPr txBox="1"/>
          <p:nvPr/>
        </p:nvSpPr>
        <p:spPr>
          <a:xfrm>
            <a:off x="6172200" y="1930000"/>
            <a:ext cx="2377440" cy="195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l" marL="171450" indent="-171450">
              <a:lnSpc>
                <a:spcPct val="100000"/>
              </a:lnSpc>
              <a:spcAft>
                <a:spcPts val="700"/>
              </a:spcAft>
              <a:buClr>
                <a:srgbClr val="C9A84C"/>
              </a:buClr>
              <a:buFont typeface="Arial"/>
              <a:buChar char="•"/>
            </a:pPr>
            <a:r>
              <a:rPr lang="es-AR" sz="12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Pasar Facebook a Página profesional</a:t>
            </a:r>
          </a:p>
          <a:p>
            <a:pPr algn="l" marL="171450" indent="-171450">
              <a:lnSpc>
                <a:spcPct val="100000"/>
              </a:lnSpc>
              <a:spcAft>
                <a:spcPts val="700"/>
              </a:spcAft>
              <a:buClr>
                <a:srgbClr val="C9A84C"/>
              </a:buClr>
              <a:buFont typeface="Arial"/>
              <a:buChar char="•"/>
            </a:pPr>
            <a:r>
              <a:rPr lang="es-AR" sz="12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Publicar 3 o 4 veces por semana con el calendario</a:t>
            </a:r>
          </a:p>
          <a:p>
            <a:pPr algn="l" marL="171450" indent="-171450">
              <a:lnSpc>
                <a:spcPct val="100000"/>
              </a:lnSpc>
              <a:spcAft>
                <a:spcPts val="700"/>
              </a:spcAft>
              <a:buClr>
                <a:srgbClr val="C9A84C"/>
              </a:buClr>
              <a:buFont typeface="Arial"/>
              <a:buChar char="•"/>
            </a:pPr>
            <a:r>
              <a:rPr lang="es-AR" sz="12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Reels cortos y llamados a comentar en cada pieza</a:t>
            </a:r>
          </a:p>
          <a:p>
            <a:pPr algn="l" marL="171450" indent="-171450">
              <a:lnSpc>
                <a:spcPct val="100000"/>
              </a:lnSpc>
              <a:spcAft>
                <a:spcPts val="700"/>
              </a:spcAft>
              <a:buClr>
                <a:srgbClr val="C9A84C"/>
              </a:buClr>
              <a:buFont typeface="Arial"/>
              <a:buChar char="•"/>
            </a:pPr>
            <a:r>
              <a:rPr lang="es-AR" sz="1200" b="0" u="none" strike="noStrike">
                <a:solidFill>
                  <a:srgbClr val="E8E0D0"/>
                </a:solidFill>
                <a:effectLst/>
                <a:uFillTx/>
                <a:latin typeface="Calibri"/>
                <a:ea typeface="Calibri"/>
              </a:rPr>
              <a:t>Completar Destacados y revisar las políticas de Meta para alcohol</a:t>
            </a:r>
          </a:p>
        </p:txBody>
      </p:sp>
      <p:sp>
        <p:nvSpPr>
          <p:cNvPr id="168" name="Nota 168"/>
          <p:cNvSpPr txBox="1"/>
          <p:nvPr/>
        </p:nvSpPr>
        <p:spPr>
          <a:xfrm>
            <a:off x="457200" y="4080000"/>
            <a:ext cx="8229600" cy="25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p>
            <a:pPr algn="l">
              <a:lnSpc>
                <a:spcPct val="100000"/>
              </a:lnSpc>
              <a:buNone/>
            </a:pPr>
            <a:r>
              <a:rPr lang="es-AR" sz="1000" b="0" i="1" u="none" strike="noStrike">
                <a:solidFill>
                  <a:srgbClr val="9A8E7A"/>
                </a:solidFill>
                <a:effectLst/>
                <a:uFillTx/>
                <a:latin typeface="Calibri"/>
                <a:ea typeface="Calibri"/>
              </a:rPr>
              <a:t>Meta sugerida a 30 días: 50 seguidores en Instagram y al menos 3 comentarios por publicación.</a:t>
            </a:r>
          </a:p>
        </p:txBody>
      </p:sp>
      <p:sp>
        <p:nvSpPr>
          <p:cNvPr id="169" name="PlaceHolder 1"/>
          <p:cNvSpPr>
            <a:spLocks noGrp="1"/>
          </p:cNvSpPr>
          <p:nvPr>
            <p:ph type="sldNum" idx="8"/>
          </p:nvPr>
        </p:nvSpPr>
        <p:spPr>
          <a:xfrm>
            <a:off x="8321040" y="4754880"/>
            <a:ext cx="547920" cy="273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0797E4D-CAC3-46A2-A315-28B203BEE7E1}" type="slidenum">
              <a:rPr lang="en-US" sz="900" b="0" u="none" strike="noStrike">
                <a:solidFill>
                  <a:srgbClr val="8B6914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s-AR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Collabora_Office/25.04.12.20260929$Linux_X86_64 LibreOffice_project/9328c419b8c298bae3e8500bb812ad06f718acd5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2026-10-02T02:26:00Z</dcterms:created>
  <dc:creator>PptxGenJS</dc:creator>
  <dc:description/>
  <dc:language>es-AR</dc:language>
  <cp:lastModifiedBy/>
  <dcterms:modified xsi:type="dcterms:W3CDTF">2026-10-02T15:41:34Z</dcterms:modified>
  <cp:revision>4</cp:revision>
  <dc:subject>PptxGenJS Presentation</dc:subject>
  <dc:title>Noble Cognac — Presentación Estratégica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